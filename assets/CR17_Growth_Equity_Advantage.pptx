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9A9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4" d="100"/>
          <a:sy n="64" d="100"/>
        </p:scale>
        <p:origin x="81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469051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4f15aa3a9a57fdff7ef9d2658ea73dad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1143000" y="761695"/>
            <a:ext cx="16002000" cy="914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143000" y="3429000"/>
            <a:ext cx="7905902" cy="561990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Shape 1"/>
          <p:cNvSpPr/>
          <p:nvPr/>
        </p:nvSpPr>
        <p:spPr>
          <a:xfrm>
            <a:off x="9239098" y="3429000"/>
            <a:ext cx="7905902" cy="561990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1" descr="gen-dedup-4f15aa3a9a57fdff7ef9d2658ea73dad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1143000" y="9430207"/>
            <a:ext cx="16002000" cy="9144"/>
          </a:xfrm>
          <a:prstGeom prst="rect">
            <a:avLst/>
          </a:prstGeom>
        </p:spPr>
      </p:pic>
      <p:pic>
        <p:nvPicPr>
          <p:cNvPr id="6" name="Image 2" descr="gen-dedup-7bc9507c24d348478bc7161830bc6940.png"/>
          <p:cNvPicPr>
            <a:picLocks noChangeAspect="1"/>
          </p:cNvPicPr>
          <p:nvPr/>
        </p:nvPicPr>
        <p:blipFill>
          <a:blip r:embed="rId4"/>
          <a:srcRect t="-399" b="-399"/>
          <a:stretch/>
        </p:blipFill>
        <p:spPr>
          <a:xfrm>
            <a:off x="1143000" y="3429000"/>
            <a:ext cx="7905902" cy="38405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1447495" y="5391302"/>
            <a:ext cx="7295998" cy="1714500"/>
          </a:xfrm>
          <a:prstGeom prst="rect">
            <a:avLst/>
          </a:prstGeom>
          <a:solidFill>
            <a:srgbClr val="0B1F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8" name="Image 3" descr="gen-dedup-7bc9507c24d348478bc7161830bc6940.png"/>
          <p:cNvPicPr>
            <a:picLocks noChangeAspect="1"/>
          </p:cNvPicPr>
          <p:nvPr/>
        </p:nvPicPr>
        <p:blipFill>
          <a:blip r:embed="rId4"/>
          <a:srcRect t="-399" b="-399"/>
          <a:stretch/>
        </p:blipFill>
        <p:spPr>
          <a:xfrm>
            <a:off x="9239098" y="3429000"/>
            <a:ext cx="7905902" cy="38405"/>
          </a:xfrm>
          <a:prstGeom prst="rect">
            <a:avLst/>
          </a:prstGeom>
        </p:spPr>
      </p:pic>
      <p:sp>
        <p:nvSpPr>
          <p:cNvPr id="9" name="Shape 3"/>
          <p:cNvSpPr/>
          <p:nvPr/>
        </p:nvSpPr>
        <p:spPr>
          <a:xfrm>
            <a:off x="9544507" y="5391302"/>
            <a:ext cx="7295998" cy="1714500"/>
          </a:xfrm>
          <a:prstGeom prst="rect">
            <a:avLst/>
          </a:prstGeom>
          <a:solidFill>
            <a:srgbClr val="0B1F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" name="Shape 4"/>
          <p:cNvSpPr/>
          <p:nvPr/>
        </p:nvSpPr>
        <p:spPr>
          <a:xfrm>
            <a:off x="9849002" y="6038698"/>
            <a:ext cx="1733702" cy="724205"/>
          </a:xfrm>
          <a:prstGeom prst="rect">
            <a:avLst/>
          </a:prstGeom>
          <a:noFill/>
          <a:ln w="12700">
            <a:solidFill>
              <a:srgbClr val="C9A960"/>
            </a:solidFill>
            <a:prstDash val="solid"/>
          </a:ln>
        </p:spPr>
      </p:sp>
      <p:pic>
        <p:nvPicPr>
          <p:cNvPr id="11" name="Image 4" descr="gen-dedup-f75b5a82e7bc527256f53f929916a21f.png"/>
          <p:cNvPicPr>
            <a:picLocks noChangeAspect="1"/>
          </p:cNvPicPr>
          <p:nvPr/>
        </p:nvPicPr>
        <p:blipFill>
          <a:blip r:embed="rId5"/>
          <a:srcRect l="-2083" r="-2083"/>
          <a:stretch/>
        </p:blipFill>
        <p:spPr>
          <a:xfrm>
            <a:off x="11563502" y="6381598"/>
            <a:ext cx="571500" cy="9144"/>
          </a:xfrm>
          <a:prstGeom prst="rect">
            <a:avLst/>
          </a:prstGeom>
        </p:spPr>
      </p:pic>
      <p:sp>
        <p:nvSpPr>
          <p:cNvPr id="12" name="Shape 5"/>
          <p:cNvSpPr/>
          <p:nvPr/>
        </p:nvSpPr>
        <p:spPr>
          <a:xfrm>
            <a:off x="12077395" y="6334049"/>
            <a:ext cx="75895" cy="95098"/>
          </a:xfrm>
          <a:prstGeom prst="rect">
            <a:avLst/>
          </a:prstGeom>
          <a:noFill/>
          <a:ln w="635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Shape 6"/>
          <p:cNvSpPr/>
          <p:nvPr/>
        </p:nvSpPr>
        <p:spPr>
          <a:xfrm>
            <a:off x="12230100" y="5962802"/>
            <a:ext cx="1904695" cy="857707"/>
          </a:xfrm>
          <a:prstGeom prst="rect">
            <a:avLst/>
          </a:prstGeom>
          <a:solidFill>
            <a:srgbClr val="C9A9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4" name="Image 5" descr="gen-dedup-f75b5a82e7bc527256f53f929916a21f.png"/>
          <p:cNvPicPr>
            <a:picLocks noChangeAspect="1"/>
          </p:cNvPicPr>
          <p:nvPr/>
        </p:nvPicPr>
        <p:blipFill>
          <a:blip r:embed="rId5"/>
          <a:srcRect l="-2083" r="-2083"/>
          <a:stretch/>
        </p:blipFill>
        <p:spPr>
          <a:xfrm>
            <a:off x="14134795" y="6381598"/>
            <a:ext cx="571500" cy="9144"/>
          </a:xfrm>
          <a:prstGeom prst="rect">
            <a:avLst/>
          </a:prstGeom>
        </p:spPr>
      </p:pic>
      <p:sp>
        <p:nvSpPr>
          <p:cNvPr id="15" name="Shape 7"/>
          <p:cNvSpPr/>
          <p:nvPr/>
        </p:nvSpPr>
        <p:spPr>
          <a:xfrm>
            <a:off x="14649602" y="6334049"/>
            <a:ext cx="75895" cy="95098"/>
          </a:xfrm>
          <a:prstGeom prst="rect">
            <a:avLst/>
          </a:prstGeom>
          <a:noFill/>
          <a:ln w="635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Shape 8"/>
          <p:cNvSpPr/>
          <p:nvPr/>
        </p:nvSpPr>
        <p:spPr>
          <a:xfrm>
            <a:off x="14802307" y="6038698"/>
            <a:ext cx="1733702" cy="724205"/>
          </a:xfrm>
          <a:prstGeom prst="rect">
            <a:avLst/>
          </a:prstGeom>
          <a:noFill/>
          <a:ln w="12700">
            <a:solidFill>
              <a:srgbClr val="C9A960"/>
            </a:solidFill>
            <a:prstDash val="solid"/>
          </a:ln>
        </p:spPr>
        <p:txBody>
          <a:bodyPr anchor="b"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Inter"/>
              </a:rPr>
              <a:t>North America &amp; Europe</a:t>
            </a:r>
          </a:p>
        </p:txBody>
      </p:sp>
      <p:sp>
        <p:nvSpPr>
          <p:cNvPr id="17" name="Text 9"/>
          <p:cNvSpPr txBox="1"/>
          <p:nvPr/>
        </p:nvSpPr>
        <p:spPr>
          <a:xfrm>
            <a:off x="1143000" y="952805"/>
            <a:ext cx="76206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kern="0" spc="231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CR17 Capital Partners · Growth Equity Strategy</a:t>
            </a:r>
            <a:endParaRPr lang="en-US" sz="1000" dirty="0"/>
          </a:p>
        </p:txBody>
      </p:sp>
      <p:sp>
        <p:nvSpPr>
          <p:cNvPr id="18" name="Text 10"/>
          <p:cNvSpPr txBox="1"/>
          <p:nvPr/>
        </p:nvSpPr>
        <p:spPr>
          <a:xfrm>
            <a:off x="16383305" y="952805"/>
            <a:ext cx="7626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000" kern="0" spc="231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/ 02</a:t>
            </a:r>
            <a:endParaRPr lang="en-US" sz="1000" dirty="0"/>
          </a:p>
        </p:txBody>
      </p:sp>
      <p:sp>
        <p:nvSpPr>
          <p:cNvPr id="19" name="Text 11"/>
          <p:cNvSpPr txBox="1"/>
          <p:nvPr/>
        </p:nvSpPr>
        <p:spPr>
          <a:xfrm>
            <a:off x="1143000" y="1429207"/>
            <a:ext cx="16381476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800" kern="0" spc="-48" dirty="0">
                <a:solidFill>
                  <a:srgbClr val="0B1F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 differentiated model for </a:t>
            </a:r>
            <a:r>
              <a:rPr lang="en-US" sz="4800" i="1" kern="0" spc="-48" dirty="0">
                <a:solidFill>
                  <a:srgbClr val="8B6F2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alpha generation</a:t>
            </a:r>
            <a:r>
              <a:rPr lang="en-US" sz="4800" kern="0" spc="-48" dirty="0">
                <a:solidFill>
                  <a:srgbClr val="0B1F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.</a:t>
            </a:r>
            <a:endParaRPr lang="en-US" sz="4800" dirty="0"/>
          </a:p>
        </p:txBody>
      </p:sp>
      <p:sp>
        <p:nvSpPr>
          <p:cNvPr id="20" name="Text 12"/>
          <p:cNvSpPr txBox="1"/>
          <p:nvPr/>
        </p:nvSpPr>
        <p:spPr>
          <a:xfrm>
            <a:off x="1143000" y="2495398"/>
            <a:ext cx="149733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structural advantages set CR17 apart from conventional growth equity — one built into the capital structure, the other into the operating model.</a:t>
            </a:r>
            <a:endParaRPr lang="en-US" sz="2000" dirty="0"/>
          </a:p>
        </p:txBody>
      </p:sp>
      <p:sp>
        <p:nvSpPr>
          <p:cNvPr id="21" name="Text 13"/>
          <p:cNvSpPr txBox="1"/>
          <p:nvPr/>
        </p:nvSpPr>
        <p:spPr>
          <a:xfrm>
            <a:off x="1447495" y="3733495"/>
            <a:ext cx="5715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kern="0" spc="83" dirty="0">
                <a:solidFill>
                  <a:srgbClr val="8B6F2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01</a:t>
            </a:r>
            <a:endParaRPr lang="en-US" sz="1600" dirty="0"/>
          </a:p>
        </p:txBody>
      </p:sp>
      <p:sp>
        <p:nvSpPr>
          <p:cNvPr id="22" name="Text 14"/>
          <p:cNvSpPr txBox="1"/>
          <p:nvPr/>
        </p:nvSpPr>
        <p:spPr>
          <a:xfrm>
            <a:off x="2095805" y="3771900"/>
            <a:ext cx="57150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215" dirty="0">
                <a:solidFill>
                  <a:srgbClr val="8B6F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Disciplined &amp; Patient Capital</a:t>
            </a:r>
            <a:endParaRPr lang="en-US" sz="1600" dirty="0"/>
          </a:p>
        </p:txBody>
      </p:sp>
      <p:sp>
        <p:nvSpPr>
          <p:cNvPr id="23" name="Text 15"/>
          <p:cNvSpPr txBox="1"/>
          <p:nvPr/>
        </p:nvSpPr>
        <p:spPr>
          <a:xfrm>
            <a:off x="1447495" y="4134002"/>
            <a:ext cx="7296912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kern="0" spc="-25" dirty="0">
                <a:solidFill>
                  <a:srgbClr val="0B1F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Direct ownership. No layered fees.</a:t>
            </a:r>
            <a:endParaRPr lang="en-US" sz="2500" dirty="0"/>
          </a:p>
          <a:p>
            <a:pPr marL="0" indent="0" algn="l">
              <a:buNone/>
            </a:pPr>
            <a:r>
              <a:rPr lang="en-US" sz="2500" kern="0" spc="-25" dirty="0">
                <a:solidFill>
                  <a:srgbClr val="0B1F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Built for alignment.</a:t>
            </a:r>
            <a:endParaRPr lang="en-US" sz="2500" dirty="0"/>
          </a:p>
        </p:txBody>
      </p:sp>
      <p:sp>
        <p:nvSpPr>
          <p:cNvPr id="24" name="Text 16"/>
          <p:cNvSpPr txBox="1"/>
          <p:nvPr/>
        </p:nvSpPr>
        <p:spPr>
          <a:xfrm>
            <a:off x="1752905" y="5658307"/>
            <a:ext cx="476311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198" dirty="0">
                <a:solidFill>
                  <a:srgbClr val="C9A9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Anchor Discipline</a:t>
            </a:r>
            <a:endParaRPr lang="en-US" sz="1400" dirty="0"/>
          </a:p>
        </p:txBody>
      </p:sp>
      <p:sp>
        <p:nvSpPr>
          <p:cNvPr id="25" name="Text 17"/>
          <p:cNvSpPr txBox="1"/>
          <p:nvPr/>
        </p:nvSpPr>
        <p:spPr>
          <a:xfrm>
            <a:off x="1752905" y="5886907"/>
            <a:ext cx="2477110" cy="10579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200" kern="0" spc="-72" dirty="0">
                <a:solidFill>
                  <a:srgbClr val="FBFAF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50</a:t>
            </a:r>
            <a:r>
              <a:rPr lang="en-US" sz="7200" kern="0" spc="-72" dirty="0">
                <a:solidFill>
                  <a:srgbClr val="C9A960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%</a:t>
            </a:r>
            <a:endParaRPr lang="en-US" sz="7200" dirty="0"/>
          </a:p>
        </p:txBody>
      </p:sp>
      <p:sp>
        <p:nvSpPr>
          <p:cNvPr id="26" name="Text 18"/>
          <p:cNvSpPr txBox="1"/>
          <p:nvPr/>
        </p:nvSpPr>
        <p:spPr>
          <a:xfrm>
            <a:off x="4324198" y="5962802"/>
            <a:ext cx="411480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BFA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Minimum anchor / cornerstone allocation targets must commit in exchange for CR17's pre-IPO investment.</a:t>
            </a:r>
            <a:endParaRPr lang="en-US" sz="1400" dirty="0"/>
          </a:p>
        </p:txBody>
      </p:sp>
      <p:sp>
        <p:nvSpPr>
          <p:cNvPr id="27" name="Text 19"/>
          <p:cNvSpPr txBox="1"/>
          <p:nvPr/>
        </p:nvSpPr>
        <p:spPr>
          <a:xfrm>
            <a:off x="4324198" y="6505956"/>
            <a:ext cx="41148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00" kern="0" spc="20" dirty="0">
                <a:solidFill>
                  <a:srgbClr val="C9A9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De-risked IPO for targets · shorter lock-up for LPs</a:t>
            </a:r>
            <a:endParaRPr lang="en-US" sz="1400" dirty="0"/>
          </a:p>
        </p:txBody>
      </p:sp>
      <p:sp>
        <p:nvSpPr>
          <p:cNvPr id="28" name="Shape 20"/>
          <p:cNvSpPr/>
          <p:nvPr/>
        </p:nvSpPr>
        <p:spPr>
          <a:xfrm>
            <a:off x="1447495" y="7487107"/>
            <a:ext cx="57607" cy="57607"/>
          </a:xfrm>
          <a:prstGeom prst="ellipse">
            <a:avLst/>
          </a:prstGeom>
          <a:solidFill>
            <a:srgbClr val="8B6F2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1"/>
          <p:cNvSpPr txBox="1"/>
          <p:nvPr/>
        </p:nvSpPr>
        <p:spPr>
          <a:xfrm>
            <a:off x="1657807" y="7391095"/>
            <a:ext cx="708660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Direct equity only.</a:t>
            </a:r>
            <a:r>
              <a:rPr lang="en-US" sz="1400" dirty="0">
                <a:solidFill>
                  <a:srgbClr val="1A2B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No structured products, fund-of-funds, or access-for-fee vehicles — APC Growth Equity Fund owns the underlying assets directly.</a:t>
            </a:r>
            <a:endParaRPr lang="en-US" sz="1400" dirty="0"/>
          </a:p>
        </p:txBody>
      </p:sp>
      <p:sp>
        <p:nvSpPr>
          <p:cNvPr id="30" name="Shape 22"/>
          <p:cNvSpPr/>
          <p:nvPr/>
        </p:nvSpPr>
        <p:spPr>
          <a:xfrm>
            <a:off x="1447495" y="8182051"/>
            <a:ext cx="57607" cy="57607"/>
          </a:xfrm>
          <a:prstGeom prst="ellipse">
            <a:avLst/>
          </a:prstGeom>
          <a:solidFill>
            <a:srgbClr val="8B6F2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3"/>
          <p:cNvSpPr txBox="1"/>
          <p:nvPr/>
        </p:nvSpPr>
        <p:spPr>
          <a:xfrm>
            <a:off x="1657807" y="8086954"/>
            <a:ext cx="708660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fee transparency.</a:t>
            </a:r>
            <a:r>
              <a:rPr lang="en-US" sz="1400" dirty="0">
                <a:solidFill>
                  <a:srgbClr val="1A2B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Zero duplicative management fees or performance drag from intermediary layers / vehicles.</a:t>
            </a:r>
            <a:endParaRPr lang="en-US" sz="1400" dirty="0"/>
          </a:p>
        </p:txBody>
      </p:sp>
      <p:sp>
        <p:nvSpPr>
          <p:cNvPr id="32" name="Text 24"/>
          <p:cNvSpPr txBox="1"/>
          <p:nvPr/>
        </p:nvSpPr>
        <p:spPr>
          <a:xfrm>
            <a:off x="9544507" y="3733495"/>
            <a:ext cx="5715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kern="0" spc="83" dirty="0">
                <a:solidFill>
                  <a:srgbClr val="8B6F2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02</a:t>
            </a:r>
            <a:endParaRPr lang="en-US" sz="1600" dirty="0"/>
          </a:p>
        </p:txBody>
      </p:sp>
      <p:sp>
        <p:nvSpPr>
          <p:cNvPr id="33" name="Text 25"/>
          <p:cNvSpPr txBox="1"/>
          <p:nvPr/>
        </p:nvSpPr>
        <p:spPr>
          <a:xfrm>
            <a:off x="10191902" y="3771900"/>
            <a:ext cx="66678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215" dirty="0">
                <a:solidFill>
                  <a:srgbClr val="8B6F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Overseas Commercialization Partnership</a:t>
            </a:r>
            <a:endParaRPr lang="en-US" sz="1600" dirty="0"/>
          </a:p>
        </p:txBody>
      </p:sp>
      <p:sp>
        <p:nvSpPr>
          <p:cNvPr id="34" name="Text 26"/>
          <p:cNvSpPr txBox="1"/>
          <p:nvPr/>
        </p:nvSpPr>
        <p:spPr>
          <a:xfrm>
            <a:off x="9544507" y="4134002"/>
            <a:ext cx="7296912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kern="0" spc="-25" dirty="0">
                <a:solidFill>
                  <a:srgbClr val="0B1F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Beyond capital:</a:t>
            </a:r>
            <a:endParaRPr lang="en-US" sz="2500" dirty="0"/>
          </a:p>
          <a:p>
            <a:pPr marL="0" indent="0" algn="l">
              <a:buNone/>
            </a:pPr>
            <a:r>
              <a:rPr lang="en-US" sz="2500" kern="0" spc="-25" dirty="0">
                <a:solidFill>
                  <a:srgbClr val="0B1F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unlocking Western markets.</a:t>
            </a:r>
            <a:endParaRPr lang="en-US" sz="2500" dirty="0"/>
          </a:p>
        </p:txBody>
      </p:sp>
      <p:sp>
        <p:nvSpPr>
          <p:cNvPr id="35" name="Text 27"/>
          <p:cNvSpPr txBox="1"/>
          <p:nvPr/>
        </p:nvSpPr>
        <p:spPr>
          <a:xfrm>
            <a:off x="9849002" y="5658307"/>
            <a:ext cx="476311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198" dirty="0">
                <a:solidFill>
                  <a:srgbClr val="C9A9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Commercialization Engine</a:t>
            </a:r>
            <a:endParaRPr lang="en-US" sz="1400" dirty="0"/>
          </a:p>
        </p:txBody>
      </p:sp>
      <p:sp>
        <p:nvSpPr>
          <p:cNvPr id="36" name="Text 28"/>
          <p:cNvSpPr txBox="1"/>
          <p:nvPr/>
        </p:nvSpPr>
        <p:spPr>
          <a:xfrm>
            <a:off x="9849002" y="6152998"/>
            <a:ext cx="17145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35" dirty="0">
                <a:solidFill>
                  <a:srgbClr val="C9A9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Portfolio Co.</a:t>
            </a:r>
            <a:endParaRPr lang="en-US" sz="800" dirty="0"/>
          </a:p>
        </p:txBody>
      </p:sp>
      <p:sp>
        <p:nvSpPr>
          <p:cNvPr id="37" name="Text 29"/>
          <p:cNvSpPr txBox="1"/>
          <p:nvPr/>
        </p:nvSpPr>
        <p:spPr>
          <a:xfrm>
            <a:off x="9849002" y="6344107"/>
            <a:ext cx="17145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00" kern="0" spc="-15" dirty="0">
                <a:solidFill>
                  <a:srgbClr val="FBFAF7"/>
                </a:solidFill>
                <a:latin typeface="Inter"/>
                <a:ea typeface="Fraunces" pitchFamily="34" charset="-122"/>
                <a:cs typeface="Fraunces" pitchFamily="34" charset="-120"/>
              </a:rPr>
              <a:t>China</a:t>
            </a:r>
            <a:endParaRPr lang="en-US" sz="1600" dirty="0">
              <a:latin typeface="Inter"/>
            </a:endParaRPr>
          </a:p>
        </p:txBody>
      </p:sp>
      <p:sp>
        <p:nvSpPr>
          <p:cNvPr id="38" name="Text 30"/>
          <p:cNvSpPr txBox="1"/>
          <p:nvPr/>
        </p:nvSpPr>
        <p:spPr>
          <a:xfrm>
            <a:off x="12230100" y="6096305"/>
            <a:ext cx="190561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35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CR17 Co-Investment</a:t>
            </a:r>
            <a:endParaRPr lang="en-US" sz="800" dirty="0"/>
          </a:p>
        </p:txBody>
      </p:sp>
      <p:sp>
        <p:nvSpPr>
          <p:cNvPr id="39" name="Text 31"/>
          <p:cNvSpPr txBox="1"/>
          <p:nvPr/>
        </p:nvSpPr>
        <p:spPr>
          <a:xfrm>
            <a:off x="12230100" y="6286500"/>
            <a:ext cx="190561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00" kern="0" spc="-16" dirty="0">
                <a:solidFill>
                  <a:srgbClr val="0B1F3A"/>
                </a:solidFill>
                <a:latin typeface="Inter"/>
                <a:ea typeface="Fraunces" pitchFamily="34" charset="-122"/>
                <a:cs typeface="Fraunces" pitchFamily="34" charset="-120"/>
              </a:rPr>
              <a:t>Offshore JV</a:t>
            </a:r>
            <a:endParaRPr lang="en-US" sz="1600" dirty="0">
              <a:latin typeface="Inter"/>
            </a:endParaRPr>
          </a:p>
        </p:txBody>
      </p:sp>
      <p:sp>
        <p:nvSpPr>
          <p:cNvPr id="40" name="Text 32"/>
          <p:cNvSpPr txBox="1"/>
          <p:nvPr/>
        </p:nvSpPr>
        <p:spPr>
          <a:xfrm>
            <a:off x="12230100" y="6553505"/>
            <a:ext cx="190561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B1F3A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Active commercialization</a:t>
            </a:r>
            <a:endParaRPr lang="en-US" sz="800" dirty="0"/>
          </a:p>
        </p:txBody>
      </p:sp>
      <p:sp>
        <p:nvSpPr>
          <p:cNvPr id="41" name="Text 33"/>
          <p:cNvSpPr txBox="1"/>
          <p:nvPr/>
        </p:nvSpPr>
        <p:spPr>
          <a:xfrm>
            <a:off x="14802307" y="6115523"/>
            <a:ext cx="17145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35" dirty="0">
                <a:solidFill>
                  <a:srgbClr val="C9A9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 Clients</a:t>
            </a:r>
            <a:endParaRPr lang="en-US" sz="800" dirty="0"/>
          </a:p>
        </p:txBody>
      </p:sp>
      <p:sp>
        <p:nvSpPr>
          <p:cNvPr id="43" name="Text 35"/>
          <p:cNvSpPr txBox="1"/>
          <p:nvPr/>
        </p:nvSpPr>
        <p:spPr>
          <a:xfrm>
            <a:off x="9849002" y="6858000"/>
            <a:ext cx="6667805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0" kern="0" spc="149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Powered by Chinney Group · Wong Family · Cha Family networks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44" name="Shape 36"/>
          <p:cNvSpPr/>
          <p:nvPr/>
        </p:nvSpPr>
        <p:spPr>
          <a:xfrm>
            <a:off x="9544507" y="7487107"/>
            <a:ext cx="57607" cy="57607"/>
          </a:xfrm>
          <a:prstGeom prst="ellipse">
            <a:avLst/>
          </a:prstGeom>
          <a:solidFill>
            <a:srgbClr val="8B6F2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Text 37"/>
          <p:cNvSpPr txBox="1"/>
          <p:nvPr/>
        </p:nvSpPr>
        <p:spPr>
          <a:xfrm>
            <a:off x="9753905" y="7391095"/>
            <a:ext cx="708660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Decades-old distribution.</a:t>
            </a:r>
            <a:r>
              <a:rPr lang="en-US" sz="1400" dirty="0">
                <a:solidFill>
                  <a:srgbClr val="1A2B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Sales networks and client relationships across developed markets Chinese companies rarely crack alone.</a:t>
            </a:r>
            <a:endParaRPr lang="en-US" sz="1400" dirty="0"/>
          </a:p>
        </p:txBody>
      </p:sp>
      <p:sp>
        <p:nvSpPr>
          <p:cNvPr id="46" name="Shape 38"/>
          <p:cNvSpPr/>
          <p:nvPr/>
        </p:nvSpPr>
        <p:spPr>
          <a:xfrm>
            <a:off x="9544507" y="8182051"/>
            <a:ext cx="57607" cy="57607"/>
          </a:xfrm>
          <a:prstGeom prst="ellipse">
            <a:avLst/>
          </a:prstGeom>
          <a:solidFill>
            <a:srgbClr val="8B6F2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Text 39"/>
          <p:cNvSpPr txBox="1"/>
          <p:nvPr/>
        </p:nvSpPr>
        <p:spPr>
          <a:xfrm>
            <a:off x="9753905" y="8086954"/>
            <a:ext cx="708660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Hands-on execution &amp; funding.</a:t>
            </a:r>
            <a:r>
              <a:rPr lang="en-US" sz="1400" dirty="0">
                <a:solidFill>
                  <a:srgbClr val="1A2B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Not introductions — CR17 will co-invest and actively operate the offshore JV to help target commercialize their products in new markets.</a:t>
            </a:r>
            <a:endParaRPr lang="en-US" sz="1400" dirty="0"/>
          </a:p>
        </p:txBody>
      </p:sp>
      <p:sp>
        <p:nvSpPr>
          <p:cNvPr id="48" name="Text 40"/>
          <p:cNvSpPr txBox="1"/>
          <p:nvPr/>
        </p:nvSpPr>
        <p:spPr>
          <a:xfrm>
            <a:off x="1143000" y="9667951"/>
            <a:ext cx="1143000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00" i="1" kern="0" spc="-19" dirty="0">
                <a:solidFill>
                  <a:srgbClr val="0B1F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"Capital that opens doors — not just writes checks."</a:t>
            </a:r>
            <a:endParaRPr lang="en-US" sz="1900" dirty="0"/>
          </a:p>
        </p:txBody>
      </p:sp>
      <p:sp>
        <p:nvSpPr>
          <p:cNvPr id="49" name="Text 41"/>
          <p:cNvSpPr txBox="1"/>
          <p:nvPr/>
        </p:nvSpPr>
        <p:spPr>
          <a:xfrm>
            <a:off x="14287500" y="9753905"/>
            <a:ext cx="28575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98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 · For LP Discussion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4f15aa3a9a57fdff7ef9d2658ea73dad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1143000" y="761695"/>
            <a:ext cx="16002000" cy="9144"/>
          </a:xfrm>
          <a:prstGeom prst="rect">
            <a:avLst/>
          </a:prstGeom>
        </p:spPr>
      </p:pic>
      <p:pic>
        <p:nvPicPr>
          <p:cNvPr id="5" name="Image 1" descr="gen-dedup-4f15aa3a9a57fdff7ef9d2658ea73dad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1143000" y="9715500"/>
            <a:ext cx="16002000" cy="9144"/>
          </a:xfrm>
          <a:prstGeom prst="rect">
            <a:avLst/>
          </a:prstGeom>
        </p:spPr>
      </p:pic>
      <p:sp>
        <p:nvSpPr>
          <p:cNvPr id="35" name="Text 21"/>
          <p:cNvSpPr txBox="1"/>
          <p:nvPr/>
        </p:nvSpPr>
        <p:spPr>
          <a:xfrm>
            <a:off x="1143000" y="952805"/>
            <a:ext cx="76206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kern="0" spc="231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CR17 Capital Partners · Growth Equity Strategy</a:t>
            </a:r>
            <a:endParaRPr lang="en-US" sz="1000" dirty="0"/>
          </a:p>
        </p:txBody>
      </p:sp>
      <p:sp>
        <p:nvSpPr>
          <p:cNvPr id="36" name="Text 22"/>
          <p:cNvSpPr txBox="1"/>
          <p:nvPr/>
        </p:nvSpPr>
        <p:spPr>
          <a:xfrm>
            <a:off x="16383305" y="952805"/>
            <a:ext cx="7626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000" kern="0" spc="231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/ 02</a:t>
            </a:r>
            <a:endParaRPr lang="en-US" sz="1000" dirty="0"/>
          </a:p>
        </p:txBody>
      </p:sp>
      <p:sp>
        <p:nvSpPr>
          <p:cNvPr id="37" name="Text 23"/>
          <p:cNvSpPr txBox="1"/>
          <p:nvPr/>
        </p:nvSpPr>
        <p:spPr>
          <a:xfrm>
            <a:off x="1143000" y="1429207"/>
            <a:ext cx="14287500" cy="6483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500" kern="0" spc="-45" dirty="0">
                <a:solidFill>
                  <a:srgbClr val="0B1F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The differentiation, </a:t>
            </a:r>
            <a:r>
              <a:rPr lang="en-US" sz="4500" i="1" kern="0" spc="-45" dirty="0">
                <a:solidFill>
                  <a:srgbClr val="8B6F2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quantified</a:t>
            </a:r>
            <a:r>
              <a:rPr lang="en-US" sz="4500" kern="0" spc="-45" dirty="0">
                <a:solidFill>
                  <a:srgbClr val="0B1F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.</a:t>
            </a:r>
            <a:endParaRPr lang="en-US" sz="4500" dirty="0"/>
          </a:p>
        </p:txBody>
      </p:sp>
      <p:sp>
        <p:nvSpPr>
          <p:cNvPr id="98" name="Text 84"/>
          <p:cNvSpPr txBox="1"/>
          <p:nvPr/>
        </p:nvSpPr>
        <p:spPr>
          <a:xfrm>
            <a:off x="14287500" y="9982505"/>
            <a:ext cx="28575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98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 · For LP Discussion</a:t>
            </a:r>
            <a:endParaRPr lang="en-US" sz="900" dirty="0"/>
          </a:p>
        </p:txBody>
      </p:sp>
      <p:sp>
        <p:nvSpPr>
          <p:cNvPr id="100" name="Text 40">
            <a:extLst>
              <a:ext uri="{FF2B5EF4-FFF2-40B4-BE49-F238E27FC236}">
                <a16:creationId xmlns:a16="http://schemas.microsoft.com/office/drawing/2014/main" id="{AF8BC4EE-1CB3-AC7D-7862-30960E2F646A}"/>
              </a:ext>
            </a:extLst>
          </p:cNvPr>
          <p:cNvSpPr txBox="1"/>
          <p:nvPr/>
        </p:nvSpPr>
        <p:spPr>
          <a:xfrm>
            <a:off x="1143000" y="9944100"/>
            <a:ext cx="1143000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00" i="1" kern="0" spc="-19" dirty="0">
                <a:solidFill>
                  <a:srgbClr val="0B1F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"Capital that opens doors — not just writes checks."</a:t>
            </a:r>
            <a:endParaRPr lang="en-US" sz="1900" dirty="0"/>
          </a:p>
        </p:txBody>
      </p:sp>
      <p:sp>
        <p:nvSpPr>
          <p:cNvPr id="106" name="Shape 0">
            <a:extLst>
              <a:ext uri="{FF2B5EF4-FFF2-40B4-BE49-F238E27FC236}">
                <a16:creationId xmlns:a16="http://schemas.microsoft.com/office/drawing/2014/main" id="{7FC69DD2-4C3D-481A-8B8B-3D32AA6C4CD1}"/>
              </a:ext>
            </a:extLst>
          </p:cNvPr>
          <p:cNvSpPr/>
          <p:nvPr/>
        </p:nvSpPr>
        <p:spPr>
          <a:xfrm>
            <a:off x="1143000" y="3124505"/>
            <a:ext cx="5191049" cy="65151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8" name="Shape 1">
            <a:extLst>
              <a:ext uri="{FF2B5EF4-FFF2-40B4-BE49-F238E27FC236}">
                <a16:creationId xmlns:a16="http://schemas.microsoft.com/office/drawing/2014/main" id="{FB13A860-7D26-DF07-62FA-2A7CBE9EC235}"/>
              </a:ext>
            </a:extLst>
          </p:cNvPr>
          <p:cNvSpPr/>
          <p:nvPr/>
        </p:nvSpPr>
        <p:spPr>
          <a:xfrm>
            <a:off x="6543446" y="3124505"/>
            <a:ext cx="5191049" cy="65151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0" name="Shape 2">
            <a:extLst>
              <a:ext uri="{FF2B5EF4-FFF2-40B4-BE49-F238E27FC236}">
                <a16:creationId xmlns:a16="http://schemas.microsoft.com/office/drawing/2014/main" id="{BBADAECF-8C7B-7D6A-4367-9EA6101DA334}"/>
              </a:ext>
            </a:extLst>
          </p:cNvPr>
          <p:cNvSpPr/>
          <p:nvPr/>
        </p:nvSpPr>
        <p:spPr>
          <a:xfrm>
            <a:off x="11944807" y="3124505"/>
            <a:ext cx="5201107" cy="65151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pic>
        <p:nvPicPr>
          <p:cNvPr id="112" name="Image 2" descr="gen-dedup-2558ec276ee804763195bc6570aab27e.png">
            <a:extLst>
              <a:ext uri="{FF2B5EF4-FFF2-40B4-BE49-F238E27FC236}">
                <a16:creationId xmlns:a16="http://schemas.microsoft.com/office/drawing/2014/main" id="{634D78BD-49C6-4E1A-2912-1E6C69D0517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401" b="-401"/>
          <a:stretch/>
        </p:blipFill>
        <p:spPr>
          <a:xfrm>
            <a:off x="1143000" y="3124505"/>
            <a:ext cx="5191049" cy="38405"/>
          </a:xfrm>
          <a:prstGeom prst="rect">
            <a:avLst/>
          </a:prstGeom>
        </p:spPr>
      </p:pic>
      <p:sp>
        <p:nvSpPr>
          <p:cNvPr id="114" name="Shape 3">
            <a:extLst>
              <a:ext uri="{FF2B5EF4-FFF2-40B4-BE49-F238E27FC236}">
                <a16:creationId xmlns:a16="http://schemas.microsoft.com/office/drawing/2014/main" id="{41CB3943-15DF-7887-F992-5A2240C0DAA2}"/>
              </a:ext>
            </a:extLst>
          </p:cNvPr>
          <p:cNvSpPr/>
          <p:nvPr/>
        </p:nvSpPr>
        <p:spPr>
          <a:xfrm>
            <a:off x="1410005" y="4781398"/>
            <a:ext cx="4657954" cy="1047902"/>
          </a:xfrm>
          <a:prstGeom prst="rect">
            <a:avLst/>
          </a:prstGeom>
          <a:solidFill>
            <a:srgbClr val="0B1F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6" name="Shape 4">
            <a:extLst>
              <a:ext uri="{FF2B5EF4-FFF2-40B4-BE49-F238E27FC236}">
                <a16:creationId xmlns:a16="http://schemas.microsoft.com/office/drawing/2014/main" id="{EAECB9F5-7F9B-E3B5-8312-DFF27D501AD5}"/>
              </a:ext>
            </a:extLst>
          </p:cNvPr>
          <p:cNvSpPr/>
          <p:nvPr/>
        </p:nvSpPr>
        <p:spPr>
          <a:xfrm>
            <a:off x="2266798" y="6381598"/>
            <a:ext cx="590702" cy="304495"/>
          </a:xfrm>
          <a:prstGeom prst="rect">
            <a:avLst/>
          </a:prstGeom>
          <a:solidFill>
            <a:srgbClr val="FFFFFF"/>
          </a:solidFill>
          <a:ln w="12700">
            <a:solidFill>
              <a:srgbClr val="D4C9B0"/>
            </a:solidFill>
            <a:prstDash val="solid"/>
          </a:ln>
        </p:spPr>
      </p:sp>
      <p:sp>
        <p:nvSpPr>
          <p:cNvPr id="118" name="Shape 5">
            <a:extLst>
              <a:ext uri="{FF2B5EF4-FFF2-40B4-BE49-F238E27FC236}">
                <a16:creationId xmlns:a16="http://schemas.microsoft.com/office/drawing/2014/main" id="{0C578B55-1678-A350-FD50-705F5A21445D}"/>
              </a:ext>
            </a:extLst>
          </p:cNvPr>
          <p:cNvSpPr/>
          <p:nvPr/>
        </p:nvSpPr>
        <p:spPr>
          <a:xfrm>
            <a:off x="2838298" y="6381598"/>
            <a:ext cx="961949" cy="304495"/>
          </a:xfrm>
          <a:prstGeom prst="rect">
            <a:avLst/>
          </a:prstGeom>
          <a:solidFill>
            <a:srgbClr val="F0EBDF"/>
          </a:solidFill>
          <a:ln w="12700">
            <a:solidFill>
              <a:srgbClr val="D4C9B0"/>
            </a:solidFill>
            <a:prstDash val="solid"/>
          </a:ln>
        </p:spPr>
      </p:sp>
      <p:sp>
        <p:nvSpPr>
          <p:cNvPr id="120" name="Shape 6">
            <a:extLst>
              <a:ext uri="{FF2B5EF4-FFF2-40B4-BE49-F238E27FC236}">
                <a16:creationId xmlns:a16="http://schemas.microsoft.com/office/drawing/2014/main" id="{B89FE7F5-F1C1-5557-838D-84E9BD96508B}"/>
              </a:ext>
            </a:extLst>
          </p:cNvPr>
          <p:cNvSpPr/>
          <p:nvPr/>
        </p:nvSpPr>
        <p:spPr>
          <a:xfrm>
            <a:off x="3791102" y="6381598"/>
            <a:ext cx="961949" cy="304495"/>
          </a:xfrm>
          <a:prstGeom prst="rect">
            <a:avLst/>
          </a:prstGeom>
          <a:solidFill>
            <a:srgbClr val="E4D9BE"/>
          </a:solidFill>
          <a:ln w="12700">
            <a:solidFill>
              <a:srgbClr val="D4C9B0"/>
            </a:solidFill>
            <a:prstDash val="solid"/>
          </a:ln>
        </p:spPr>
      </p:sp>
      <p:sp>
        <p:nvSpPr>
          <p:cNvPr id="122" name="Shape 7">
            <a:extLst>
              <a:ext uri="{FF2B5EF4-FFF2-40B4-BE49-F238E27FC236}">
                <a16:creationId xmlns:a16="http://schemas.microsoft.com/office/drawing/2014/main" id="{6D09C0B5-BFDA-2089-BD33-ED911C77B2FA}"/>
              </a:ext>
            </a:extLst>
          </p:cNvPr>
          <p:cNvSpPr/>
          <p:nvPr/>
        </p:nvSpPr>
        <p:spPr>
          <a:xfrm>
            <a:off x="4743907" y="6381598"/>
            <a:ext cx="961949" cy="304495"/>
          </a:xfrm>
          <a:prstGeom prst="rect">
            <a:avLst/>
          </a:prstGeom>
          <a:solidFill>
            <a:srgbClr val="D8C89E"/>
          </a:solidFill>
          <a:ln w="12700">
            <a:solidFill>
              <a:srgbClr val="D4C9B0"/>
            </a:solidFill>
            <a:prstDash val="solid"/>
          </a:ln>
        </p:spPr>
      </p:sp>
      <p:sp>
        <p:nvSpPr>
          <p:cNvPr id="124" name="Shape 8">
            <a:extLst>
              <a:ext uri="{FF2B5EF4-FFF2-40B4-BE49-F238E27FC236}">
                <a16:creationId xmlns:a16="http://schemas.microsoft.com/office/drawing/2014/main" id="{D478A592-CE3B-BE44-4265-E5B604A3F3D0}"/>
              </a:ext>
            </a:extLst>
          </p:cNvPr>
          <p:cNvSpPr/>
          <p:nvPr/>
        </p:nvSpPr>
        <p:spPr>
          <a:xfrm>
            <a:off x="5695798" y="6381598"/>
            <a:ext cx="390449" cy="304495"/>
          </a:xfrm>
          <a:prstGeom prst="rect">
            <a:avLst/>
          </a:prstGeom>
          <a:solidFill>
            <a:srgbClr val="FFFFFF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126" name="Image 3" descr="gen-dedup-f53d8191d679121b0f9bebf01e7d55cd.png">
            <a:extLst>
              <a:ext uri="{FF2B5EF4-FFF2-40B4-BE49-F238E27FC236}">
                <a16:creationId xmlns:a16="http://schemas.microsoft.com/office/drawing/2014/main" id="{05A90A96-0676-8E54-0B8C-5754BEB7CE0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-396" b="-396"/>
          <a:stretch/>
        </p:blipFill>
        <p:spPr>
          <a:xfrm>
            <a:off x="2266798" y="6724498"/>
            <a:ext cx="3810305" cy="57607"/>
          </a:xfrm>
          <a:prstGeom prst="rect">
            <a:avLst/>
          </a:prstGeom>
        </p:spPr>
      </p:pic>
      <p:sp>
        <p:nvSpPr>
          <p:cNvPr id="128" name="Shape 9">
            <a:extLst>
              <a:ext uri="{FF2B5EF4-FFF2-40B4-BE49-F238E27FC236}">
                <a16:creationId xmlns:a16="http://schemas.microsoft.com/office/drawing/2014/main" id="{34F60CAF-D6B1-AEC3-8D65-A0869420822E}"/>
              </a:ext>
            </a:extLst>
          </p:cNvPr>
          <p:cNvSpPr/>
          <p:nvPr/>
        </p:nvSpPr>
        <p:spPr>
          <a:xfrm>
            <a:off x="2266798" y="7372807"/>
            <a:ext cx="875995" cy="304495"/>
          </a:xfrm>
          <a:prstGeom prst="rect">
            <a:avLst/>
          </a:prstGeom>
          <a:solidFill>
            <a:srgbClr val="FFFFFF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30" name="Shape 10">
            <a:extLst>
              <a:ext uri="{FF2B5EF4-FFF2-40B4-BE49-F238E27FC236}">
                <a16:creationId xmlns:a16="http://schemas.microsoft.com/office/drawing/2014/main" id="{A8267B07-1976-27D6-866C-516CB7F3E9AB}"/>
              </a:ext>
            </a:extLst>
          </p:cNvPr>
          <p:cNvSpPr/>
          <p:nvPr/>
        </p:nvSpPr>
        <p:spPr>
          <a:xfrm>
            <a:off x="3124505" y="7372807"/>
            <a:ext cx="2104949" cy="304495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32" name="Shape 11">
            <a:extLst>
              <a:ext uri="{FF2B5EF4-FFF2-40B4-BE49-F238E27FC236}">
                <a16:creationId xmlns:a16="http://schemas.microsoft.com/office/drawing/2014/main" id="{B46119D4-4608-7AAF-C104-85A292D5CBA8}"/>
              </a:ext>
            </a:extLst>
          </p:cNvPr>
          <p:cNvSpPr/>
          <p:nvPr/>
        </p:nvSpPr>
        <p:spPr>
          <a:xfrm>
            <a:off x="5219395" y="7372807"/>
            <a:ext cx="866851" cy="304495"/>
          </a:xfrm>
          <a:prstGeom prst="rect">
            <a:avLst/>
          </a:prstGeom>
          <a:solidFill>
            <a:srgbClr val="FFFFFF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134" name="Image 4" descr="gen-dedup-bb2c9132628c7467a1daf1506e58f3c7.png">
            <a:extLst>
              <a:ext uri="{FF2B5EF4-FFF2-40B4-BE49-F238E27FC236}">
                <a16:creationId xmlns:a16="http://schemas.microsoft.com/office/drawing/2014/main" id="{3514CE8A-2A66-05A2-602D-EDFAFB9E314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-396" b="-396"/>
          <a:stretch/>
        </p:blipFill>
        <p:spPr>
          <a:xfrm>
            <a:off x="2266798" y="7715707"/>
            <a:ext cx="3810305" cy="57607"/>
          </a:xfrm>
          <a:prstGeom prst="rect">
            <a:avLst/>
          </a:prstGeom>
        </p:spPr>
      </p:pic>
      <p:pic>
        <p:nvPicPr>
          <p:cNvPr id="136" name="Image 5" descr="gen-dedup-5b8e4382af04f31c17950d920d91d5d2.png">
            <a:extLst>
              <a:ext uri="{FF2B5EF4-FFF2-40B4-BE49-F238E27FC236}">
                <a16:creationId xmlns:a16="http://schemas.microsoft.com/office/drawing/2014/main" id="{498F0102-B98B-852D-3F9E-DDE46543ECAB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-2083" r="-2083"/>
          <a:stretch/>
        </p:blipFill>
        <p:spPr>
          <a:xfrm>
            <a:off x="1410005" y="8572500"/>
            <a:ext cx="4657954" cy="9144"/>
          </a:xfrm>
          <a:prstGeom prst="rect">
            <a:avLst/>
          </a:prstGeom>
        </p:spPr>
      </p:pic>
      <p:pic>
        <p:nvPicPr>
          <p:cNvPr id="138" name="Image 6" descr="gen-dedup-2558ec276ee804763195bc6570aab27e.png">
            <a:extLst>
              <a:ext uri="{FF2B5EF4-FFF2-40B4-BE49-F238E27FC236}">
                <a16:creationId xmlns:a16="http://schemas.microsoft.com/office/drawing/2014/main" id="{2F00EC88-053C-1EA6-9818-0BF88C3E0AF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401" b="-401"/>
          <a:stretch/>
        </p:blipFill>
        <p:spPr>
          <a:xfrm>
            <a:off x="6543446" y="3124505"/>
            <a:ext cx="5191049" cy="38405"/>
          </a:xfrm>
          <a:prstGeom prst="rect">
            <a:avLst/>
          </a:prstGeom>
        </p:spPr>
      </p:pic>
      <p:sp>
        <p:nvSpPr>
          <p:cNvPr id="140" name="Shape 12">
            <a:extLst>
              <a:ext uri="{FF2B5EF4-FFF2-40B4-BE49-F238E27FC236}">
                <a16:creationId xmlns:a16="http://schemas.microsoft.com/office/drawing/2014/main" id="{18531040-63C8-EF22-EFB6-D6C4622AD8FF}"/>
              </a:ext>
            </a:extLst>
          </p:cNvPr>
          <p:cNvSpPr/>
          <p:nvPr/>
        </p:nvSpPr>
        <p:spPr>
          <a:xfrm>
            <a:off x="6810451" y="4781398"/>
            <a:ext cx="4657954" cy="1047902"/>
          </a:xfrm>
          <a:prstGeom prst="rect">
            <a:avLst/>
          </a:prstGeom>
          <a:solidFill>
            <a:srgbClr val="0B1F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42" name="Image 7" descr="gen-dedup-2e186d01e469903f89ddfa017ecc2b79.png">
            <a:extLst>
              <a:ext uri="{FF2B5EF4-FFF2-40B4-BE49-F238E27FC236}">
                <a16:creationId xmlns:a16="http://schemas.microsoft.com/office/drawing/2014/main" id="{1D365313-7630-8C51-8165-47B4575D6448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-2089" r="-2089"/>
          <a:stretch/>
        </p:blipFill>
        <p:spPr>
          <a:xfrm>
            <a:off x="7524598" y="6687007"/>
            <a:ext cx="3715207" cy="9144"/>
          </a:xfrm>
          <a:prstGeom prst="rect">
            <a:avLst/>
          </a:prstGeom>
        </p:spPr>
      </p:pic>
      <p:pic>
        <p:nvPicPr>
          <p:cNvPr id="144" name="Image 8" descr="gen-dedup-249d178ae67d7becf35115cd0869d35f.png">
            <a:extLst>
              <a:ext uri="{FF2B5EF4-FFF2-40B4-BE49-F238E27FC236}">
                <a16:creationId xmlns:a16="http://schemas.microsoft.com/office/drawing/2014/main" id="{E2F8863F-6E60-9320-9795-59482FBE91F4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-400" r="-400"/>
          <a:stretch/>
        </p:blipFill>
        <p:spPr>
          <a:xfrm>
            <a:off x="7515454" y="6629400"/>
            <a:ext cx="19202" cy="114300"/>
          </a:xfrm>
          <a:prstGeom prst="rect">
            <a:avLst/>
          </a:prstGeom>
        </p:spPr>
      </p:pic>
      <p:pic>
        <p:nvPicPr>
          <p:cNvPr id="146" name="Image 9" descr="gen-dedup-030a61358f5f6318826c1862af3806d9.png">
            <a:extLst>
              <a:ext uri="{FF2B5EF4-FFF2-40B4-BE49-F238E27FC236}">
                <a16:creationId xmlns:a16="http://schemas.microsoft.com/office/drawing/2014/main" id="{D6DBF674-AA0F-2F7D-C39E-A0785017F216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-41" r="-41"/>
          <a:stretch/>
        </p:blipFill>
        <p:spPr>
          <a:xfrm>
            <a:off x="7524598" y="6400800"/>
            <a:ext cx="3238805" cy="209398"/>
          </a:xfrm>
          <a:prstGeom prst="rect">
            <a:avLst/>
          </a:prstGeom>
        </p:spPr>
      </p:pic>
      <p:pic>
        <p:nvPicPr>
          <p:cNvPr id="148" name="Image 10" descr="gen-dedup-140a238840766f02a040cf13aa4e5c05.png">
            <a:extLst>
              <a:ext uri="{FF2B5EF4-FFF2-40B4-BE49-F238E27FC236}">
                <a16:creationId xmlns:a16="http://schemas.microsoft.com/office/drawing/2014/main" id="{F36F0AE6-9BEF-E387-53CC-63B6EADC258C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-400" r="-400"/>
          <a:stretch/>
        </p:blipFill>
        <p:spPr>
          <a:xfrm>
            <a:off x="10763402" y="6629400"/>
            <a:ext cx="19202" cy="114300"/>
          </a:xfrm>
          <a:prstGeom prst="rect">
            <a:avLst/>
          </a:prstGeom>
        </p:spPr>
      </p:pic>
      <p:sp>
        <p:nvSpPr>
          <p:cNvPr id="150" name="Shape 13">
            <a:extLst>
              <a:ext uri="{FF2B5EF4-FFF2-40B4-BE49-F238E27FC236}">
                <a16:creationId xmlns:a16="http://schemas.microsoft.com/office/drawing/2014/main" id="{7743AF78-73B8-9256-C5C9-76D0EE948C8D}"/>
              </a:ext>
            </a:extLst>
          </p:cNvPr>
          <p:cNvSpPr/>
          <p:nvPr/>
        </p:nvSpPr>
        <p:spPr>
          <a:xfrm>
            <a:off x="7524598" y="7086600"/>
            <a:ext cx="1619402" cy="209398"/>
          </a:xfrm>
          <a:prstGeom prst="rect">
            <a:avLst/>
          </a:prstGeom>
          <a:solidFill>
            <a:srgbClr val="C9A9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52" name="Image 11" descr="gen-dedup-621320db380b5f30706514f2df6aa6fc.png">
            <a:extLst>
              <a:ext uri="{FF2B5EF4-FFF2-40B4-BE49-F238E27FC236}">
                <a16:creationId xmlns:a16="http://schemas.microsoft.com/office/drawing/2014/main" id="{425D15CA-EFB8-27AB-A80F-7F1216368CB2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-400" r="-400"/>
          <a:stretch/>
        </p:blipFill>
        <p:spPr>
          <a:xfrm>
            <a:off x="9144000" y="7315200"/>
            <a:ext cx="19202" cy="114300"/>
          </a:xfrm>
          <a:prstGeom prst="rect">
            <a:avLst/>
          </a:prstGeom>
        </p:spPr>
      </p:pic>
      <p:pic>
        <p:nvPicPr>
          <p:cNvPr id="154" name="Image 12" descr="gen-dedup-5b8e4382af04f31c17950d920d91d5d2.png">
            <a:extLst>
              <a:ext uri="{FF2B5EF4-FFF2-40B4-BE49-F238E27FC236}">
                <a16:creationId xmlns:a16="http://schemas.microsoft.com/office/drawing/2014/main" id="{7FF8B64E-8732-CCED-E74E-BB8AF2D4159E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-2083" r="-2083"/>
          <a:stretch/>
        </p:blipFill>
        <p:spPr>
          <a:xfrm>
            <a:off x="6810451" y="8572500"/>
            <a:ext cx="4657954" cy="9144"/>
          </a:xfrm>
          <a:prstGeom prst="rect">
            <a:avLst/>
          </a:prstGeom>
        </p:spPr>
      </p:pic>
      <p:pic>
        <p:nvPicPr>
          <p:cNvPr id="156" name="Image 13" descr="gen-dedup-b8f6cf9bfa57cd4ddb8e113d1353da0a.png">
            <a:extLst>
              <a:ext uri="{FF2B5EF4-FFF2-40B4-BE49-F238E27FC236}">
                <a16:creationId xmlns:a16="http://schemas.microsoft.com/office/drawing/2014/main" id="{236B9268-3D08-AE1B-91A1-5D3A83EEEE4B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t="-396" b="-396"/>
          <a:stretch/>
        </p:blipFill>
        <p:spPr>
          <a:xfrm>
            <a:off x="11944807" y="3124505"/>
            <a:ext cx="5201107" cy="38405"/>
          </a:xfrm>
          <a:prstGeom prst="rect">
            <a:avLst/>
          </a:prstGeom>
        </p:spPr>
      </p:pic>
      <p:sp>
        <p:nvSpPr>
          <p:cNvPr id="158" name="Shape 14">
            <a:extLst>
              <a:ext uri="{FF2B5EF4-FFF2-40B4-BE49-F238E27FC236}">
                <a16:creationId xmlns:a16="http://schemas.microsoft.com/office/drawing/2014/main" id="{D73E0372-31C6-9AE0-552C-A3ED5E3B9FC7}"/>
              </a:ext>
            </a:extLst>
          </p:cNvPr>
          <p:cNvSpPr/>
          <p:nvPr/>
        </p:nvSpPr>
        <p:spPr>
          <a:xfrm>
            <a:off x="12210898" y="4781398"/>
            <a:ext cx="4667098" cy="1047902"/>
          </a:xfrm>
          <a:prstGeom prst="rect">
            <a:avLst/>
          </a:prstGeom>
          <a:solidFill>
            <a:srgbClr val="0B1F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0" name="Shape 15">
            <a:extLst>
              <a:ext uri="{FF2B5EF4-FFF2-40B4-BE49-F238E27FC236}">
                <a16:creationId xmlns:a16="http://schemas.microsoft.com/office/drawing/2014/main" id="{D62ECD78-ECAB-3DA0-0D6F-E26C1AF5A0A0}"/>
              </a:ext>
            </a:extLst>
          </p:cNvPr>
          <p:cNvSpPr/>
          <p:nvPr/>
        </p:nvSpPr>
        <p:spPr>
          <a:xfrm>
            <a:off x="12210898" y="6458407"/>
            <a:ext cx="1257300" cy="800100"/>
          </a:xfrm>
          <a:prstGeom prst="rect">
            <a:avLst/>
          </a:prstGeom>
          <a:solidFill>
            <a:srgbClr val="FFFFFF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162" name="Image 14" descr="gen-dedup-5fe3805acdcbfa43a2b2c9011bc5511c.png">
            <a:extLst>
              <a:ext uri="{FF2B5EF4-FFF2-40B4-BE49-F238E27FC236}">
                <a16:creationId xmlns:a16="http://schemas.microsoft.com/office/drawing/2014/main" id="{7F93C5F2-5A3E-32C0-CCC8-A6256F9E295E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t="-1224" b="-1224"/>
          <a:stretch/>
        </p:blipFill>
        <p:spPr>
          <a:xfrm>
            <a:off x="13493965" y="6838798"/>
            <a:ext cx="323698" cy="14630"/>
          </a:xfrm>
          <a:prstGeom prst="rect">
            <a:avLst/>
          </a:prstGeom>
        </p:spPr>
      </p:pic>
      <p:sp>
        <p:nvSpPr>
          <p:cNvPr id="164" name="Shape 16">
            <a:extLst>
              <a:ext uri="{FF2B5EF4-FFF2-40B4-BE49-F238E27FC236}">
                <a16:creationId xmlns:a16="http://schemas.microsoft.com/office/drawing/2014/main" id="{8BD1D3D1-76B3-4D42-9C11-2714AF42DA03}"/>
              </a:ext>
            </a:extLst>
          </p:cNvPr>
          <p:cNvSpPr/>
          <p:nvPr/>
        </p:nvSpPr>
        <p:spPr>
          <a:xfrm>
            <a:off x="13770114" y="6791249"/>
            <a:ext cx="66751" cy="95098"/>
          </a:xfrm>
          <a:prstGeom prst="rect">
            <a:avLst/>
          </a:prstGeom>
          <a:noFill/>
          <a:ln w="635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6" name="Shape 17">
            <a:extLst>
              <a:ext uri="{FF2B5EF4-FFF2-40B4-BE49-F238E27FC236}">
                <a16:creationId xmlns:a16="http://schemas.microsoft.com/office/drawing/2014/main" id="{AA411438-C268-A87D-249F-74CD12ABB1D5}"/>
              </a:ext>
            </a:extLst>
          </p:cNvPr>
          <p:cNvSpPr/>
          <p:nvPr/>
        </p:nvSpPr>
        <p:spPr>
          <a:xfrm>
            <a:off x="13849502" y="6362395"/>
            <a:ext cx="1714500" cy="972007"/>
          </a:xfrm>
          <a:prstGeom prst="rect">
            <a:avLst/>
          </a:prstGeom>
          <a:solidFill>
            <a:srgbClr val="C9A9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68" name="Image 15" descr="gen-dedup-5fe3805acdcbfa43a2b2c9011bc5511c.png">
            <a:extLst>
              <a:ext uri="{FF2B5EF4-FFF2-40B4-BE49-F238E27FC236}">
                <a16:creationId xmlns:a16="http://schemas.microsoft.com/office/drawing/2014/main" id="{D2D130C3-9EA5-CC05-5769-91B69C1122B2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t="-1224" b="-1224"/>
          <a:stretch/>
        </p:blipFill>
        <p:spPr>
          <a:xfrm>
            <a:off x="15564002" y="6838798"/>
            <a:ext cx="323698" cy="14630"/>
          </a:xfrm>
          <a:prstGeom prst="rect">
            <a:avLst/>
          </a:prstGeom>
        </p:spPr>
      </p:pic>
      <p:sp>
        <p:nvSpPr>
          <p:cNvPr id="170" name="Shape 18">
            <a:extLst>
              <a:ext uri="{FF2B5EF4-FFF2-40B4-BE49-F238E27FC236}">
                <a16:creationId xmlns:a16="http://schemas.microsoft.com/office/drawing/2014/main" id="{7AC57AF2-DD9E-2D45-8630-4B4017A42299}"/>
              </a:ext>
            </a:extLst>
          </p:cNvPr>
          <p:cNvSpPr/>
          <p:nvPr/>
        </p:nvSpPr>
        <p:spPr>
          <a:xfrm>
            <a:off x="15840151" y="6791249"/>
            <a:ext cx="66751" cy="95098"/>
          </a:xfrm>
          <a:prstGeom prst="rect">
            <a:avLst/>
          </a:prstGeom>
          <a:noFill/>
          <a:ln w="635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2" name="Shape 19">
            <a:extLst>
              <a:ext uri="{FF2B5EF4-FFF2-40B4-BE49-F238E27FC236}">
                <a16:creationId xmlns:a16="http://schemas.microsoft.com/office/drawing/2014/main" id="{AE56246C-0FA9-AF20-C058-A2F25964EC48}"/>
              </a:ext>
            </a:extLst>
          </p:cNvPr>
          <p:cNvSpPr/>
          <p:nvPr/>
        </p:nvSpPr>
        <p:spPr>
          <a:xfrm>
            <a:off x="15896140" y="6458407"/>
            <a:ext cx="1044000" cy="800100"/>
          </a:xfrm>
          <a:prstGeom prst="rect">
            <a:avLst/>
          </a:prstGeom>
          <a:solidFill>
            <a:srgbClr val="FFFFFF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178" name="Image 17" descr="gen-dedup-86d9d362013ab50d55c04ff919ccb800.png">
            <a:extLst>
              <a:ext uri="{FF2B5EF4-FFF2-40B4-BE49-F238E27FC236}">
                <a16:creationId xmlns:a16="http://schemas.microsoft.com/office/drawing/2014/main" id="{EFC2173A-F654-7F2F-5544-2471A25E316F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 l="-2083" r="-2083"/>
          <a:stretch/>
        </p:blipFill>
        <p:spPr>
          <a:xfrm>
            <a:off x="12210898" y="8572500"/>
            <a:ext cx="4667098" cy="9144"/>
          </a:xfrm>
          <a:prstGeom prst="rect">
            <a:avLst/>
          </a:prstGeom>
        </p:spPr>
      </p:pic>
      <p:pic>
        <p:nvPicPr>
          <p:cNvPr id="180" name="Image 18" descr="gen-dedup-84b5d344acaa63fca7d8f763798ead85.png">
            <a:extLst>
              <a:ext uri="{FF2B5EF4-FFF2-40B4-BE49-F238E27FC236}">
                <a16:creationId xmlns:a16="http://schemas.microsoft.com/office/drawing/2014/main" id="{C688109E-D4F7-8F96-913E-C707D258A42C}"/>
              </a:ext>
            </a:extLst>
          </p:cNvPr>
          <p:cNvPicPr>
            <a:picLocks noChangeAspect="1"/>
          </p:cNvPicPr>
          <p:nvPr/>
        </p:nvPicPr>
        <p:blipFill>
          <a:blip r:embed="rId16">
            <a:alphaModFix amt="40000"/>
          </a:blip>
          <a:srcRect t="-2072" b="-2072"/>
          <a:stretch/>
        </p:blipFill>
        <p:spPr>
          <a:xfrm>
            <a:off x="3733495" y="4972507"/>
            <a:ext cx="9144" cy="666598"/>
          </a:xfrm>
          <a:prstGeom prst="rect">
            <a:avLst/>
          </a:prstGeom>
        </p:spPr>
      </p:pic>
      <p:pic>
        <p:nvPicPr>
          <p:cNvPr id="182" name="Image 19" descr="gen-dedup-84b5d344acaa63fca7d8f763798ead85.png">
            <a:extLst>
              <a:ext uri="{FF2B5EF4-FFF2-40B4-BE49-F238E27FC236}">
                <a16:creationId xmlns:a16="http://schemas.microsoft.com/office/drawing/2014/main" id="{8E30E0EE-9932-E3BA-7DF3-4433FEF90BED}"/>
              </a:ext>
            </a:extLst>
          </p:cNvPr>
          <p:cNvPicPr>
            <a:picLocks noChangeAspect="1"/>
          </p:cNvPicPr>
          <p:nvPr/>
        </p:nvPicPr>
        <p:blipFill>
          <a:blip r:embed="rId16">
            <a:alphaModFix amt="40000"/>
          </a:blip>
          <a:srcRect t="-2072" b="-2072"/>
          <a:stretch/>
        </p:blipFill>
        <p:spPr>
          <a:xfrm>
            <a:off x="9134856" y="4972507"/>
            <a:ext cx="9144" cy="666598"/>
          </a:xfrm>
          <a:prstGeom prst="rect">
            <a:avLst/>
          </a:prstGeom>
        </p:spPr>
      </p:pic>
      <p:pic>
        <p:nvPicPr>
          <p:cNvPr id="184" name="Image 20" descr="gen-dedup-458edbec6b3b56d3ea350dc6353c1fd4.png">
            <a:extLst>
              <a:ext uri="{FF2B5EF4-FFF2-40B4-BE49-F238E27FC236}">
                <a16:creationId xmlns:a16="http://schemas.microsoft.com/office/drawing/2014/main" id="{CFE54936-AD9C-F6AE-37E1-88A320D8D41F}"/>
              </a:ext>
            </a:extLst>
          </p:cNvPr>
          <p:cNvPicPr>
            <a:picLocks noChangeAspect="1"/>
          </p:cNvPicPr>
          <p:nvPr/>
        </p:nvPicPr>
        <p:blipFill>
          <a:blip r:embed="rId17"/>
          <a:srcRect l="-2083" r="-2083"/>
          <a:stretch/>
        </p:blipFill>
        <p:spPr>
          <a:xfrm>
            <a:off x="9163202" y="6981444"/>
            <a:ext cx="1600200" cy="9144"/>
          </a:xfrm>
          <a:prstGeom prst="rect">
            <a:avLst/>
          </a:prstGeom>
        </p:spPr>
      </p:pic>
      <p:sp>
        <p:nvSpPr>
          <p:cNvPr id="186" name="Shape 21">
            <a:extLst>
              <a:ext uri="{FF2B5EF4-FFF2-40B4-BE49-F238E27FC236}">
                <a16:creationId xmlns:a16="http://schemas.microsoft.com/office/drawing/2014/main" id="{EBC37BE8-6905-136C-4AF3-0A6958EC5FBE}"/>
              </a:ext>
            </a:extLst>
          </p:cNvPr>
          <p:cNvSpPr/>
          <p:nvPr/>
        </p:nvSpPr>
        <p:spPr>
          <a:xfrm>
            <a:off x="9163202" y="6933895"/>
            <a:ext cx="75895" cy="95098"/>
          </a:xfrm>
          <a:prstGeom prst="rect">
            <a:avLst/>
          </a:prstGeom>
          <a:noFill/>
          <a:ln w="6350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88" name="Image 21" descr="gen-dedup-84b5d344acaa63fca7d8f763798ead85.png">
            <a:extLst>
              <a:ext uri="{FF2B5EF4-FFF2-40B4-BE49-F238E27FC236}">
                <a16:creationId xmlns:a16="http://schemas.microsoft.com/office/drawing/2014/main" id="{D412E6CB-C7AB-A265-D1B7-30AD18209DA0}"/>
              </a:ext>
            </a:extLst>
          </p:cNvPr>
          <p:cNvPicPr>
            <a:picLocks noChangeAspect="1"/>
          </p:cNvPicPr>
          <p:nvPr/>
        </p:nvPicPr>
        <p:blipFill>
          <a:blip r:embed="rId16">
            <a:alphaModFix amt="40000"/>
          </a:blip>
          <a:srcRect t="-2072" b="-2072"/>
          <a:stretch/>
        </p:blipFill>
        <p:spPr>
          <a:xfrm>
            <a:off x="14535302" y="4972507"/>
            <a:ext cx="9144" cy="666598"/>
          </a:xfrm>
          <a:prstGeom prst="rect">
            <a:avLst/>
          </a:prstGeom>
        </p:spPr>
      </p:pic>
      <p:sp>
        <p:nvSpPr>
          <p:cNvPr id="190" name="Text 26">
            <a:extLst>
              <a:ext uri="{FF2B5EF4-FFF2-40B4-BE49-F238E27FC236}">
                <a16:creationId xmlns:a16="http://schemas.microsoft.com/office/drawing/2014/main" id="{E379AA4B-0DF0-A536-9381-61BCF42F54EA}"/>
              </a:ext>
            </a:extLst>
          </p:cNvPr>
          <p:cNvSpPr txBox="1"/>
          <p:nvPr/>
        </p:nvSpPr>
        <p:spPr>
          <a:xfrm>
            <a:off x="1410005" y="3429000"/>
            <a:ext cx="5715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kern="0" spc="83" dirty="0">
                <a:solidFill>
                  <a:srgbClr val="8B6F2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01</a:t>
            </a:r>
            <a:endParaRPr lang="en-US" sz="1600" dirty="0"/>
          </a:p>
        </p:txBody>
      </p:sp>
      <p:sp>
        <p:nvSpPr>
          <p:cNvPr id="192" name="Text 27">
            <a:extLst>
              <a:ext uri="{FF2B5EF4-FFF2-40B4-BE49-F238E27FC236}">
                <a16:creationId xmlns:a16="http://schemas.microsoft.com/office/drawing/2014/main" id="{D3C7B4E5-4667-FEC9-B6BC-1F86B8809E1F}"/>
              </a:ext>
            </a:extLst>
          </p:cNvPr>
          <p:cNvSpPr txBox="1"/>
          <p:nvPr/>
        </p:nvSpPr>
        <p:spPr>
          <a:xfrm>
            <a:off x="2000707" y="3467405"/>
            <a:ext cx="40005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98" dirty="0">
                <a:solidFill>
                  <a:srgbClr val="8B6F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Capital Structure</a:t>
            </a:r>
            <a:endParaRPr lang="en-US" sz="1600" dirty="0"/>
          </a:p>
        </p:txBody>
      </p:sp>
      <p:sp>
        <p:nvSpPr>
          <p:cNvPr id="194" name="Text 28">
            <a:extLst>
              <a:ext uri="{FF2B5EF4-FFF2-40B4-BE49-F238E27FC236}">
                <a16:creationId xmlns:a16="http://schemas.microsoft.com/office/drawing/2014/main" id="{7D16C53F-F3B4-945A-5431-C8659C68FD43}"/>
              </a:ext>
            </a:extLst>
          </p:cNvPr>
          <p:cNvSpPr txBox="1"/>
          <p:nvPr/>
        </p:nvSpPr>
        <p:spPr>
          <a:xfrm>
            <a:off x="1410005" y="3829507"/>
            <a:ext cx="4668012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kern="0" spc="-21" dirty="0">
                <a:solidFill>
                  <a:srgbClr val="0B1F3A"/>
                </a:solidFill>
                <a:latin typeface="Inter"/>
                <a:ea typeface="Fraunces" pitchFamily="34" charset="-122"/>
                <a:cs typeface="Fraunces" pitchFamily="34" charset="-120"/>
              </a:rPr>
              <a:t>Fewer layers between LP and asset.</a:t>
            </a:r>
            <a:endParaRPr lang="en-US" sz="2400" dirty="0">
              <a:latin typeface="Inter"/>
            </a:endParaRPr>
          </a:p>
        </p:txBody>
      </p:sp>
      <p:sp>
        <p:nvSpPr>
          <p:cNvPr id="196" name="Text 29">
            <a:extLst>
              <a:ext uri="{FF2B5EF4-FFF2-40B4-BE49-F238E27FC236}">
                <a16:creationId xmlns:a16="http://schemas.microsoft.com/office/drawing/2014/main" id="{3DADF9E5-1744-35EC-C5A0-8CE78D0EDD9B}"/>
              </a:ext>
            </a:extLst>
          </p:cNvPr>
          <p:cNvSpPr txBox="1"/>
          <p:nvPr/>
        </p:nvSpPr>
        <p:spPr>
          <a:xfrm>
            <a:off x="1638605" y="4953305"/>
            <a:ext cx="209580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165" dirty="0">
                <a:solidFill>
                  <a:srgbClr val="FBFAF7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Traditional</a:t>
            </a:r>
            <a:endParaRPr lang="en-US" sz="1400" dirty="0"/>
          </a:p>
        </p:txBody>
      </p:sp>
      <p:sp>
        <p:nvSpPr>
          <p:cNvPr id="198" name="Text 30">
            <a:extLst>
              <a:ext uri="{FF2B5EF4-FFF2-40B4-BE49-F238E27FC236}">
                <a16:creationId xmlns:a16="http://schemas.microsoft.com/office/drawing/2014/main" id="{F150B67C-94C9-DD2D-C8AC-9A4FB594DC7D}"/>
              </a:ext>
            </a:extLst>
          </p:cNvPr>
          <p:cNvSpPr txBox="1"/>
          <p:nvPr/>
        </p:nvSpPr>
        <p:spPr>
          <a:xfrm>
            <a:off x="1638605" y="5124298"/>
            <a:ext cx="342900" cy="6199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200" kern="0" spc="-42" dirty="0">
                <a:solidFill>
                  <a:srgbClr val="FBFAF7">
                    <a:alpha val="70000"/>
                  </a:srgbClr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3</a:t>
            </a:r>
            <a:endParaRPr lang="en-US" sz="4200" dirty="0"/>
          </a:p>
        </p:txBody>
      </p:sp>
      <p:sp>
        <p:nvSpPr>
          <p:cNvPr id="200" name="Text 31">
            <a:extLst>
              <a:ext uri="{FF2B5EF4-FFF2-40B4-BE49-F238E27FC236}">
                <a16:creationId xmlns:a16="http://schemas.microsoft.com/office/drawing/2014/main" id="{9C9245EA-4C7F-9890-FB9D-5C0B0DC1F9F0}"/>
              </a:ext>
            </a:extLst>
          </p:cNvPr>
          <p:cNvSpPr txBox="1"/>
          <p:nvPr/>
        </p:nvSpPr>
        <p:spPr>
          <a:xfrm>
            <a:off x="2015338" y="5363197"/>
            <a:ext cx="14400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FBFAF7">
                    <a:alpha val="70000"/>
                  </a:srgbClr>
                </a:solidFill>
                <a:latin typeface="Inter" pitchFamily="34" charset="0"/>
                <a:ea typeface="Inter"/>
                <a:cs typeface="Inter" pitchFamily="34" charset="-120"/>
              </a:rPr>
              <a:t>Fee layers</a:t>
            </a:r>
            <a:endParaRPr lang="en-US" sz="1400" dirty="0">
              <a:ea typeface="Inter"/>
            </a:endParaRPr>
          </a:p>
        </p:txBody>
      </p:sp>
      <p:sp>
        <p:nvSpPr>
          <p:cNvPr id="202" name="Text 32">
            <a:extLst>
              <a:ext uri="{FF2B5EF4-FFF2-40B4-BE49-F238E27FC236}">
                <a16:creationId xmlns:a16="http://schemas.microsoft.com/office/drawing/2014/main" id="{4E315FA6-1A31-D08E-C171-89FAE200C9B8}"/>
              </a:ext>
            </a:extLst>
          </p:cNvPr>
          <p:cNvSpPr txBox="1"/>
          <p:nvPr/>
        </p:nvSpPr>
        <p:spPr>
          <a:xfrm>
            <a:off x="3962095" y="4953305"/>
            <a:ext cx="209580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165" dirty="0">
                <a:solidFill>
                  <a:srgbClr val="C9A9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CR17</a:t>
            </a:r>
            <a:endParaRPr lang="en-US" sz="1400" dirty="0"/>
          </a:p>
        </p:txBody>
      </p:sp>
      <p:sp>
        <p:nvSpPr>
          <p:cNvPr id="204" name="Text 33">
            <a:extLst>
              <a:ext uri="{FF2B5EF4-FFF2-40B4-BE49-F238E27FC236}">
                <a16:creationId xmlns:a16="http://schemas.microsoft.com/office/drawing/2014/main" id="{3EB1F830-BDCE-560A-BB58-0519E76AD2C0}"/>
              </a:ext>
            </a:extLst>
          </p:cNvPr>
          <p:cNvSpPr txBox="1"/>
          <p:nvPr/>
        </p:nvSpPr>
        <p:spPr>
          <a:xfrm>
            <a:off x="3962095" y="5124298"/>
            <a:ext cx="342900" cy="6199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200" kern="0" spc="-42" dirty="0">
                <a:solidFill>
                  <a:srgbClr val="C9A960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1</a:t>
            </a:r>
            <a:endParaRPr lang="en-US" sz="4200" dirty="0"/>
          </a:p>
        </p:txBody>
      </p:sp>
      <p:sp>
        <p:nvSpPr>
          <p:cNvPr id="206" name="Text 34">
            <a:extLst>
              <a:ext uri="{FF2B5EF4-FFF2-40B4-BE49-F238E27FC236}">
                <a16:creationId xmlns:a16="http://schemas.microsoft.com/office/drawing/2014/main" id="{0459B441-A72C-6F4B-5155-CB03B4D4A6C9}"/>
              </a:ext>
            </a:extLst>
          </p:cNvPr>
          <p:cNvSpPr txBox="1"/>
          <p:nvPr/>
        </p:nvSpPr>
        <p:spPr>
          <a:xfrm>
            <a:off x="4398264" y="5363197"/>
            <a:ext cx="14400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FBFAF7"/>
                </a:solidFill>
                <a:latin typeface="Inter"/>
                <a:ea typeface="Inter" pitchFamily="34" charset="-122"/>
                <a:cs typeface="Inter" pitchFamily="34" charset="-120"/>
              </a:rPr>
              <a:t>Fee layer</a:t>
            </a:r>
            <a:endParaRPr lang="en-US" sz="1400" dirty="0">
              <a:latin typeface="Inter"/>
            </a:endParaRPr>
          </a:p>
        </p:txBody>
      </p:sp>
      <p:sp>
        <p:nvSpPr>
          <p:cNvPr id="208" name="Text 35">
            <a:extLst>
              <a:ext uri="{FF2B5EF4-FFF2-40B4-BE49-F238E27FC236}">
                <a16:creationId xmlns:a16="http://schemas.microsoft.com/office/drawing/2014/main" id="{FDB4DA22-A882-4FFE-699A-0CDC8BBC4F9C}"/>
              </a:ext>
            </a:extLst>
          </p:cNvPr>
          <p:cNvSpPr txBox="1"/>
          <p:nvPr/>
        </p:nvSpPr>
        <p:spPr>
          <a:xfrm>
            <a:off x="1410005" y="6096305"/>
            <a:ext cx="4668012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165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Fee drag on $100 of LP capital</a:t>
            </a:r>
            <a:endParaRPr lang="en-US" sz="1400" dirty="0"/>
          </a:p>
        </p:txBody>
      </p:sp>
      <p:sp>
        <p:nvSpPr>
          <p:cNvPr id="210" name="Text 36">
            <a:extLst>
              <a:ext uri="{FF2B5EF4-FFF2-40B4-BE49-F238E27FC236}">
                <a16:creationId xmlns:a16="http://schemas.microsoft.com/office/drawing/2014/main" id="{76C0E62F-B15C-406A-BA6B-A902BF7DF0F6}"/>
              </a:ext>
            </a:extLst>
          </p:cNvPr>
          <p:cNvSpPr txBox="1"/>
          <p:nvPr/>
        </p:nvSpPr>
        <p:spPr>
          <a:xfrm>
            <a:off x="1410005" y="6439205"/>
            <a:ext cx="894283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8A85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Traditional</a:t>
            </a:r>
            <a:endParaRPr lang="en-US" sz="1400" dirty="0"/>
          </a:p>
        </p:txBody>
      </p:sp>
      <p:sp>
        <p:nvSpPr>
          <p:cNvPr id="212" name="Text 37">
            <a:extLst>
              <a:ext uri="{FF2B5EF4-FFF2-40B4-BE49-F238E27FC236}">
                <a16:creationId xmlns:a16="http://schemas.microsoft.com/office/drawing/2014/main" id="{62BE347F-C140-16C4-135D-B394304AF45B}"/>
              </a:ext>
            </a:extLst>
          </p:cNvPr>
          <p:cNvSpPr txBox="1"/>
          <p:nvPr/>
        </p:nvSpPr>
        <p:spPr>
          <a:xfrm>
            <a:off x="2266798" y="6458407"/>
            <a:ext cx="5715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LP</a:t>
            </a:r>
            <a:endParaRPr lang="en-US" sz="800" dirty="0"/>
          </a:p>
        </p:txBody>
      </p:sp>
      <p:sp>
        <p:nvSpPr>
          <p:cNvPr id="214" name="Text 38">
            <a:extLst>
              <a:ext uri="{FF2B5EF4-FFF2-40B4-BE49-F238E27FC236}">
                <a16:creationId xmlns:a16="http://schemas.microsoft.com/office/drawing/2014/main" id="{B0DA18BB-B68E-D2B2-8A70-7FB442147834}"/>
              </a:ext>
            </a:extLst>
          </p:cNvPr>
          <p:cNvSpPr txBox="1"/>
          <p:nvPr/>
        </p:nvSpPr>
        <p:spPr>
          <a:xfrm>
            <a:off x="2838298" y="6409944"/>
            <a:ext cx="95280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Feeder</a:t>
            </a:r>
            <a:endParaRPr lang="en-US" sz="800" dirty="0"/>
          </a:p>
        </p:txBody>
      </p:sp>
      <p:sp>
        <p:nvSpPr>
          <p:cNvPr id="216" name="Text 39">
            <a:extLst>
              <a:ext uri="{FF2B5EF4-FFF2-40B4-BE49-F238E27FC236}">
                <a16:creationId xmlns:a16="http://schemas.microsoft.com/office/drawing/2014/main" id="{91B44F17-660D-5842-E15D-2EF45930F2BD}"/>
              </a:ext>
            </a:extLst>
          </p:cNvPr>
          <p:cNvSpPr txBox="1"/>
          <p:nvPr/>
        </p:nvSpPr>
        <p:spPr>
          <a:xfrm>
            <a:off x="2838298" y="6524244"/>
            <a:ext cx="952805" cy="960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A944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−fee</a:t>
            </a:r>
            <a:endParaRPr lang="en-US" sz="800" dirty="0"/>
          </a:p>
        </p:txBody>
      </p:sp>
      <p:sp>
        <p:nvSpPr>
          <p:cNvPr id="218" name="Text 40">
            <a:extLst>
              <a:ext uri="{FF2B5EF4-FFF2-40B4-BE49-F238E27FC236}">
                <a16:creationId xmlns:a16="http://schemas.microsoft.com/office/drawing/2014/main" id="{2B891082-7DB5-ABA0-C099-57416163503E}"/>
              </a:ext>
            </a:extLst>
          </p:cNvPr>
          <p:cNvSpPr txBox="1"/>
          <p:nvPr/>
        </p:nvSpPr>
        <p:spPr>
          <a:xfrm>
            <a:off x="3791102" y="6409944"/>
            <a:ext cx="95280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FoF</a:t>
            </a:r>
            <a:endParaRPr lang="en-US" sz="800" dirty="0"/>
          </a:p>
        </p:txBody>
      </p:sp>
      <p:sp>
        <p:nvSpPr>
          <p:cNvPr id="220" name="Text 41">
            <a:extLst>
              <a:ext uri="{FF2B5EF4-FFF2-40B4-BE49-F238E27FC236}">
                <a16:creationId xmlns:a16="http://schemas.microsoft.com/office/drawing/2014/main" id="{F1700692-A6DD-42B5-E62B-9CAB842B9AB8}"/>
              </a:ext>
            </a:extLst>
          </p:cNvPr>
          <p:cNvSpPr txBox="1"/>
          <p:nvPr/>
        </p:nvSpPr>
        <p:spPr>
          <a:xfrm>
            <a:off x="3791102" y="6524244"/>
            <a:ext cx="952805" cy="960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A944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−fee</a:t>
            </a:r>
            <a:endParaRPr lang="en-US" sz="800" dirty="0"/>
          </a:p>
        </p:txBody>
      </p:sp>
      <p:sp>
        <p:nvSpPr>
          <p:cNvPr id="222" name="Text 42">
            <a:extLst>
              <a:ext uri="{FF2B5EF4-FFF2-40B4-BE49-F238E27FC236}">
                <a16:creationId xmlns:a16="http://schemas.microsoft.com/office/drawing/2014/main" id="{A16C4225-0583-5AC6-9189-B5FEAEEF39BA}"/>
              </a:ext>
            </a:extLst>
          </p:cNvPr>
          <p:cNvSpPr txBox="1"/>
          <p:nvPr/>
        </p:nvSpPr>
        <p:spPr>
          <a:xfrm>
            <a:off x="4743907" y="6409944"/>
            <a:ext cx="95280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SPV</a:t>
            </a:r>
            <a:endParaRPr lang="en-US" sz="800" dirty="0"/>
          </a:p>
        </p:txBody>
      </p:sp>
      <p:sp>
        <p:nvSpPr>
          <p:cNvPr id="224" name="Text 43">
            <a:extLst>
              <a:ext uri="{FF2B5EF4-FFF2-40B4-BE49-F238E27FC236}">
                <a16:creationId xmlns:a16="http://schemas.microsoft.com/office/drawing/2014/main" id="{DC5A1452-EACE-A18A-FE34-4A393DA36266}"/>
              </a:ext>
            </a:extLst>
          </p:cNvPr>
          <p:cNvSpPr txBox="1"/>
          <p:nvPr/>
        </p:nvSpPr>
        <p:spPr>
          <a:xfrm>
            <a:off x="4743907" y="6524244"/>
            <a:ext cx="952805" cy="960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A944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−fee</a:t>
            </a:r>
            <a:endParaRPr lang="en-US" sz="800" dirty="0"/>
          </a:p>
        </p:txBody>
      </p:sp>
      <p:sp>
        <p:nvSpPr>
          <p:cNvPr id="226" name="Text 44">
            <a:extLst>
              <a:ext uri="{FF2B5EF4-FFF2-40B4-BE49-F238E27FC236}">
                <a16:creationId xmlns:a16="http://schemas.microsoft.com/office/drawing/2014/main" id="{7FC877F2-80B9-E846-4B0D-935429ABC535}"/>
              </a:ext>
            </a:extLst>
          </p:cNvPr>
          <p:cNvSpPr txBox="1"/>
          <p:nvPr/>
        </p:nvSpPr>
        <p:spPr>
          <a:xfrm>
            <a:off x="5695798" y="6458407"/>
            <a:ext cx="381305" cy="105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</a:t>
            </a:r>
            <a:endParaRPr lang="en-US" sz="800" dirty="0"/>
          </a:p>
        </p:txBody>
      </p:sp>
      <p:sp>
        <p:nvSpPr>
          <p:cNvPr id="228" name="Text 45">
            <a:extLst>
              <a:ext uri="{FF2B5EF4-FFF2-40B4-BE49-F238E27FC236}">
                <a16:creationId xmlns:a16="http://schemas.microsoft.com/office/drawing/2014/main" id="{4D21CDC3-5229-5806-5FE4-A76EDC7F6FE2}"/>
              </a:ext>
            </a:extLst>
          </p:cNvPr>
          <p:cNvSpPr txBox="1"/>
          <p:nvPr/>
        </p:nvSpPr>
        <p:spPr>
          <a:xfrm>
            <a:off x="2266798" y="6848856"/>
            <a:ext cx="49469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$100 in</a:t>
            </a:r>
            <a:endParaRPr lang="en-US" sz="1600" dirty="0"/>
          </a:p>
        </p:txBody>
      </p:sp>
      <p:sp>
        <p:nvSpPr>
          <p:cNvPr id="230" name="Text 46">
            <a:extLst>
              <a:ext uri="{FF2B5EF4-FFF2-40B4-BE49-F238E27FC236}">
                <a16:creationId xmlns:a16="http://schemas.microsoft.com/office/drawing/2014/main" id="{41F77018-6A3F-9133-078F-E9E9A3487D43}"/>
              </a:ext>
            </a:extLst>
          </p:cNvPr>
          <p:cNvSpPr txBox="1"/>
          <p:nvPr/>
        </p:nvSpPr>
        <p:spPr>
          <a:xfrm>
            <a:off x="5125304" y="6838798"/>
            <a:ext cx="961034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A944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≈ $85–90 net</a:t>
            </a:r>
            <a:endParaRPr lang="en-US" sz="1600" dirty="0"/>
          </a:p>
        </p:txBody>
      </p:sp>
      <p:sp>
        <p:nvSpPr>
          <p:cNvPr id="232" name="Text 47">
            <a:extLst>
              <a:ext uri="{FF2B5EF4-FFF2-40B4-BE49-F238E27FC236}">
                <a16:creationId xmlns:a16="http://schemas.microsoft.com/office/drawing/2014/main" id="{83DB19A6-5DC7-5DAD-072D-BD04E0463C00}"/>
              </a:ext>
            </a:extLst>
          </p:cNvPr>
          <p:cNvSpPr txBox="1"/>
          <p:nvPr/>
        </p:nvSpPr>
        <p:spPr>
          <a:xfrm>
            <a:off x="1410005" y="7429500"/>
            <a:ext cx="76261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8B6F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CR17</a:t>
            </a:r>
            <a:endParaRPr lang="en-US" sz="1400" dirty="0"/>
          </a:p>
        </p:txBody>
      </p:sp>
      <p:sp>
        <p:nvSpPr>
          <p:cNvPr id="234" name="Text 48">
            <a:extLst>
              <a:ext uri="{FF2B5EF4-FFF2-40B4-BE49-F238E27FC236}">
                <a16:creationId xmlns:a16="http://schemas.microsoft.com/office/drawing/2014/main" id="{F78220D9-42A8-3461-C5DD-27740A973E36}"/>
              </a:ext>
            </a:extLst>
          </p:cNvPr>
          <p:cNvSpPr txBox="1"/>
          <p:nvPr/>
        </p:nvSpPr>
        <p:spPr>
          <a:xfrm>
            <a:off x="2266798" y="7448702"/>
            <a:ext cx="857707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LP</a:t>
            </a:r>
            <a:endParaRPr lang="en-US" sz="800" dirty="0"/>
          </a:p>
        </p:txBody>
      </p:sp>
      <p:sp>
        <p:nvSpPr>
          <p:cNvPr id="236" name="Text 49">
            <a:extLst>
              <a:ext uri="{FF2B5EF4-FFF2-40B4-BE49-F238E27FC236}">
                <a16:creationId xmlns:a16="http://schemas.microsoft.com/office/drawing/2014/main" id="{147832A1-B898-E3F2-23B2-8B6B270A85CD}"/>
              </a:ext>
            </a:extLst>
          </p:cNvPr>
          <p:cNvSpPr txBox="1"/>
          <p:nvPr/>
        </p:nvSpPr>
        <p:spPr>
          <a:xfrm>
            <a:off x="3124505" y="7448702"/>
            <a:ext cx="2095805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5" dirty="0">
                <a:solidFill>
                  <a:srgbClr val="C9A9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CR17 · Direct Equity</a:t>
            </a:r>
            <a:endParaRPr lang="en-US" sz="800" dirty="0"/>
          </a:p>
        </p:txBody>
      </p:sp>
      <p:sp>
        <p:nvSpPr>
          <p:cNvPr id="238" name="Text 50">
            <a:extLst>
              <a:ext uri="{FF2B5EF4-FFF2-40B4-BE49-F238E27FC236}">
                <a16:creationId xmlns:a16="http://schemas.microsoft.com/office/drawing/2014/main" id="{06CBDB08-9935-9138-2D4F-BA66E4169D2A}"/>
              </a:ext>
            </a:extLst>
          </p:cNvPr>
          <p:cNvSpPr txBox="1"/>
          <p:nvPr/>
        </p:nvSpPr>
        <p:spPr>
          <a:xfrm>
            <a:off x="5219395" y="7448702"/>
            <a:ext cx="857707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</a:t>
            </a:r>
            <a:endParaRPr lang="en-US" sz="800" dirty="0"/>
          </a:p>
        </p:txBody>
      </p:sp>
      <p:sp>
        <p:nvSpPr>
          <p:cNvPr id="240" name="Text 51">
            <a:extLst>
              <a:ext uri="{FF2B5EF4-FFF2-40B4-BE49-F238E27FC236}">
                <a16:creationId xmlns:a16="http://schemas.microsoft.com/office/drawing/2014/main" id="{501B88F9-4D1A-567A-9183-A7BEAE4B790D}"/>
              </a:ext>
            </a:extLst>
          </p:cNvPr>
          <p:cNvSpPr txBox="1"/>
          <p:nvPr/>
        </p:nvSpPr>
        <p:spPr>
          <a:xfrm>
            <a:off x="2266798" y="7839151"/>
            <a:ext cx="49469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$100 in</a:t>
            </a:r>
            <a:endParaRPr lang="en-US" sz="1600" dirty="0"/>
          </a:p>
        </p:txBody>
      </p:sp>
      <p:sp>
        <p:nvSpPr>
          <p:cNvPr id="242" name="Text 52">
            <a:extLst>
              <a:ext uri="{FF2B5EF4-FFF2-40B4-BE49-F238E27FC236}">
                <a16:creationId xmlns:a16="http://schemas.microsoft.com/office/drawing/2014/main" id="{47E199B0-3EF0-1CD8-07D4-E5CC24F47F01}"/>
              </a:ext>
            </a:extLst>
          </p:cNvPr>
          <p:cNvSpPr txBox="1"/>
          <p:nvPr/>
        </p:nvSpPr>
        <p:spPr>
          <a:xfrm>
            <a:off x="5028378" y="7830007"/>
            <a:ext cx="1046074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$100 deployed</a:t>
            </a:r>
            <a:endParaRPr lang="en-US" sz="1600" dirty="0"/>
          </a:p>
        </p:txBody>
      </p:sp>
      <p:sp>
        <p:nvSpPr>
          <p:cNvPr id="244" name="Text 53">
            <a:extLst>
              <a:ext uri="{FF2B5EF4-FFF2-40B4-BE49-F238E27FC236}">
                <a16:creationId xmlns:a16="http://schemas.microsoft.com/office/drawing/2014/main" id="{F210E95D-FEB9-85ED-FBB6-F19F96FF67CD}"/>
              </a:ext>
            </a:extLst>
          </p:cNvPr>
          <p:cNvSpPr txBox="1"/>
          <p:nvPr/>
        </p:nvSpPr>
        <p:spPr>
          <a:xfrm>
            <a:off x="1410005" y="8796888"/>
            <a:ext cx="4668012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Result:</a:t>
            </a:r>
            <a:r>
              <a:rPr lang="en-US" sz="16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Full fee transparency and direct ownership — zero performance drag from intermediary layers.</a:t>
            </a:r>
            <a:endParaRPr lang="en-US" sz="1600" dirty="0"/>
          </a:p>
        </p:txBody>
      </p:sp>
      <p:sp>
        <p:nvSpPr>
          <p:cNvPr id="246" name="Text 54">
            <a:extLst>
              <a:ext uri="{FF2B5EF4-FFF2-40B4-BE49-F238E27FC236}">
                <a16:creationId xmlns:a16="http://schemas.microsoft.com/office/drawing/2014/main" id="{5F40A1D5-1233-7B85-0A3C-5842758B3440}"/>
              </a:ext>
            </a:extLst>
          </p:cNvPr>
          <p:cNvSpPr txBox="1"/>
          <p:nvPr/>
        </p:nvSpPr>
        <p:spPr>
          <a:xfrm>
            <a:off x="6810451" y="3429000"/>
            <a:ext cx="5715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kern="0" spc="83" dirty="0">
                <a:solidFill>
                  <a:srgbClr val="8B6F2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02</a:t>
            </a:r>
            <a:endParaRPr lang="en-US" sz="1600" dirty="0"/>
          </a:p>
        </p:txBody>
      </p:sp>
      <p:sp>
        <p:nvSpPr>
          <p:cNvPr id="248" name="Text 55">
            <a:extLst>
              <a:ext uri="{FF2B5EF4-FFF2-40B4-BE49-F238E27FC236}">
                <a16:creationId xmlns:a16="http://schemas.microsoft.com/office/drawing/2014/main" id="{AE09B6A5-FC6E-D03D-8405-8FE60BA20A0B}"/>
              </a:ext>
            </a:extLst>
          </p:cNvPr>
          <p:cNvSpPr txBox="1"/>
          <p:nvPr/>
        </p:nvSpPr>
        <p:spPr>
          <a:xfrm>
            <a:off x="7401154" y="3467405"/>
            <a:ext cx="40005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98" dirty="0">
                <a:solidFill>
                  <a:srgbClr val="8B6F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Allocation Discipline</a:t>
            </a:r>
            <a:endParaRPr lang="en-US" sz="1600" dirty="0"/>
          </a:p>
        </p:txBody>
      </p:sp>
      <p:sp>
        <p:nvSpPr>
          <p:cNvPr id="250" name="Text 56">
            <a:extLst>
              <a:ext uri="{FF2B5EF4-FFF2-40B4-BE49-F238E27FC236}">
                <a16:creationId xmlns:a16="http://schemas.microsoft.com/office/drawing/2014/main" id="{A56213E5-2D25-2213-D720-41AFD21F7202}"/>
              </a:ext>
            </a:extLst>
          </p:cNvPr>
          <p:cNvSpPr txBox="1"/>
          <p:nvPr/>
        </p:nvSpPr>
        <p:spPr>
          <a:xfrm>
            <a:off x="6810451" y="3829507"/>
            <a:ext cx="4668012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kern="0" spc="-21" dirty="0">
                <a:solidFill>
                  <a:srgbClr val="0B1F3A"/>
                </a:solidFill>
                <a:latin typeface="Inter"/>
                <a:ea typeface="Fraunces" pitchFamily="34" charset="-122"/>
                <a:cs typeface="Fraunces" pitchFamily="34" charset="-120"/>
              </a:rPr>
              <a:t>Anchor / cornerstone access.</a:t>
            </a:r>
            <a:endParaRPr lang="en-US" sz="2400" dirty="0">
              <a:latin typeface="Inter"/>
            </a:endParaRPr>
          </a:p>
          <a:p>
            <a:pPr marL="0" indent="0" algn="l">
              <a:buNone/>
            </a:pPr>
            <a:r>
              <a:rPr lang="en-US" sz="2400" kern="0" spc="-21" dirty="0">
                <a:solidFill>
                  <a:srgbClr val="0B1F3A"/>
                </a:solidFill>
                <a:latin typeface="Inter"/>
                <a:ea typeface="Fraunces" pitchFamily="34" charset="-122"/>
                <a:cs typeface="Fraunces" pitchFamily="34" charset="-120"/>
              </a:rPr>
              <a:t>Compressed lock-up.</a:t>
            </a:r>
            <a:endParaRPr lang="en-US" sz="2400" dirty="0">
              <a:latin typeface="Inter"/>
            </a:endParaRPr>
          </a:p>
        </p:txBody>
      </p:sp>
      <p:sp>
        <p:nvSpPr>
          <p:cNvPr id="252" name="Text 57">
            <a:extLst>
              <a:ext uri="{FF2B5EF4-FFF2-40B4-BE49-F238E27FC236}">
                <a16:creationId xmlns:a16="http://schemas.microsoft.com/office/drawing/2014/main" id="{0C8D8FF7-56D3-275E-73D2-A0F8261DFB52}"/>
              </a:ext>
            </a:extLst>
          </p:cNvPr>
          <p:cNvSpPr txBox="1"/>
          <p:nvPr/>
        </p:nvSpPr>
        <p:spPr>
          <a:xfrm>
            <a:off x="7039051" y="4953305"/>
            <a:ext cx="209580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165" dirty="0">
                <a:solidFill>
                  <a:srgbClr val="C9A9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Minimum anchor / </a:t>
            </a:r>
          </a:p>
          <a:p>
            <a:pPr marL="0" indent="0" algn="l">
              <a:buNone/>
            </a:pPr>
            <a:r>
              <a:rPr lang="en-US" sz="1400" b="1" kern="0" spc="165" dirty="0">
                <a:solidFill>
                  <a:srgbClr val="C9A960"/>
                </a:solidFill>
                <a:latin typeface="Inter" pitchFamily="34" charset="0"/>
                <a:ea typeface="Inter" pitchFamily="34" charset="-122"/>
              </a:rPr>
              <a:t>cornerstone</a:t>
            </a:r>
            <a:endParaRPr lang="en-US" sz="1400" dirty="0"/>
          </a:p>
        </p:txBody>
      </p:sp>
      <p:sp>
        <p:nvSpPr>
          <p:cNvPr id="254" name="Text 58">
            <a:extLst>
              <a:ext uri="{FF2B5EF4-FFF2-40B4-BE49-F238E27FC236}">
                <a16:creationId xmlns:a16="http://schemas.microsoft.com/office/drawing/2014/main" id="{27DCFA2B-9114-9484-BFD2-5545AABA7869}"/>
              </a:ext>
            </a:extLst>
          </p:cNvPr>
          <p:cNvSpPr txBox="1"/>
          <p:nvPr/>
        </p:nvSpPr>
        <p:spPr>
          <a:xfrm>
            <a:off x="7039051" y="5124298"/>
            <a:ext cx="1335024" cy="6199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200" kern="0" spc="-42" dirty="0">
                <a:solidFill>
                  <a:srgbClr val="C9A960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50</a:t>
            </a:r>
            <a:r>
              <a:rPr lang="en-US" sz="2700" kern="0" spc="-42" dirty="0">
                <a:solidFill>
                  <a:srgbClr val="C9A960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%</a:t>
            </a:r>
            <a:endParaRPr lang="en-US" sz="4200" dirty="0"/>
          </a:p>
        </p:txBody>
      </p:sp>
      <p:sp>
        <p:nvSpPr>
          <p:cNvPr id="256" name="Text 59">
            <a:extLst>
              <a:ext uri="{FF2B5EF4-FFF2-40B4-BE49-F238E27FC236}">
                <a16:creationId xmlns:a16="http://schemas.microsoft.com/office/drawing/2014/main" id="{39FC0A33-0F46-FF6B-9BE7-15F8636900DA}"/>
              </a:ext>
            </a:extLst>
          </p:cNvPr>
          <p:cNvSpPr txBox="1"/>
          <p:nvPr/>
        </p:nvSpPr>
        <p:spPr>
          <a:xfrm>
            <a:off x="8000086" y="5363197"/>
            <a:ext cx="10800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FBFAF7"/>
                </a:solidFill>
                <a:latin typeface="Inter" pitchFamily="34" charset="0"/>
                <a:ea typeface="Inter"/>
                <a:cs typeface="Inter" pitchFamily="34" charset="-120"/>
              </a:rPr>
              <a:t>of our pre-IPO amount</a:t>
            </a:r>
            <a:endParaRPr lang="en-US" sz="1400" dirty="0">
              <a:ea typeface="Inter"/>
            </a:endParaRPr>
          </a:p>
        </p:txBody>
      </p:sp>
      <p:sp>
        <p:nvSpPr>
          <p:cNvPr id="258" name="Text 60">
            <a:extLst>
              <a:ext uri="{FF2B5EF4-FFF2-40B4-BE49-F238E27FC236}">
                <a16:creationId xmlns:a16="http://schemas.microsoft.com/office/drawing/2014/main" id="{DF373D5A-EAA2-6864-4481-3DE9CB5B4EDE}"/>
              </a:ext>
            </a:extLst>
          </p:cNvPr>
          <p:cNvSpPr txBox="1"/>
          <p:nvPr/>
        </p:nvSpPr>
        <p:spPr>
          <a:xfrm>
            <a:off x="9363456" y="4953305"/>
            <a:ext cx="209580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165" dirty="0">
                <a:solidFill>
                  <a:srgbClr val="C9A9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Lock-up period</a:t>
            </a:r>
            <a:endParaRPr lang="en-US" sz="1400" dirty="0"/>
          </a:p>
        </p:txBody>
      </p:sp>
      <p:sp>
        <p:nvSpPr>
          <p:cNvPr id="260" name="Text 61">
            <a:extLst>
              <a:ext uri="{FF2B5EF4-FFF2-40B4-BE49-F238E27FC236}">
                <a16:creationId xmlns:a16="http://schemas.microsoft.com/office/drawing/2014/main" id="{ED321FB3-C420-7A6D-1F63-6D4594B5B28A}"/>
              </a:ext>
            </a:extLst>
          </p:cNvPr>
          <p:cNvSpPr txBox="1"/>
          <p:nvPr/>
        </p:nvSpPr>
        <p:spPr>
          <a:xfrm>
            <a:off x="9363456" y="5124298"/>
            <a:ext cx="752551" cy="6199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200" kern="0" spc="-42" dirty="0">
                <a:solidFill>
                  <a:srgbClr val="C9A960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&lt;½</a:t>
            </a:r>
            <a:endParaRPr lang="en-US" sz="4200" dirty="0"/>
          </a:p>
        </p:txBody>
      </p:sp>
      <p:sp>
        <p:nvSpPr>
          <p:cNvPr id="262" name="Text 62">
            <a:extLst>
              <a:ext uri="{FF2B5EF4-FFF2-40B4-BE49-F238E27FC236}">
                <a16:creationId xmlns:a16="http://schemas.microsoft.com/office/drawing/2014/main" id="{96146B71-E635-4EC3-A577-DCA31D64C0FA}"/>
              </a:ext>
            </a:extLst>
          </p:cNvPr>
          <p:cNvSpPr txBox="1"/>
          <p:nvPr/>
        </p:nvSpPr>
        <p:spPr>
          <a:xfrm>
            <a:off x="10182758" y="5363197"/>
            <a:ext cx="10800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FBFAF7"/>
                </a:solidFill>
                <a:latin typeface="Inter"/>
                <a:ea typeface="Inter" pitchFamily="34" charset="-122"/>
                <a:cs typeface="Inter" pitchFamily="34" charset="-120"/>
              </a:rPr>
              <a:t>Shortened vs. market</a:t>
            </a:r>
            <a:endParaRPr lang="en-US" sz="1400" dirty="0">
              <a:latin typeface="Inter"/>
            </a:endParaRPr>
          </a:p>
        </p:txBody>
      </p:sp>
      <p:sp>
        <p:nvSpPr>
          <p:cNvPr id="264" name="Text 63">
            <a:extLst>
              <a:ext uri="{FF2B5EF4-FFF2-40B4-BE49-F238E27FC236}">
                <a16:creationId xmlns:a16="http://schemas.microsoft.com/office/drawing/2014/main" id="{A205C109-C14E-17BF-F0CC-77B367AA8E17}"/>
              </a:ext>
            </a:extLst>
          </p:cNvPr>
          <p:cNvSpPr txBox="1"/>
          <p:nvPr/>
        </p:nvSpPr>
        <p:spPr>
          <a:xfrm>
            <a:off x="6810451" y="6096305"/>
            <a:ext cx="4668012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165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Path to liquidity</a:t>
            </a:r>
            <a:endParaRPr lang="en-US" sz="1400" dirty="0"/>
          </a:p>
        </p:txBody>
      </p:sp>
      <p:sp>
        <p:nvSpPr>
          <p:cNvPr id="266" name="Text 64">
            <a:extLst>
              <a:ext uri="{FF2B5EF4-FFF2-40B4-BE49-F238E27FC236}">
                <a16:creationId xmlns:a16="http://schemas.microsoft.com/office/drawing/2014/main" id="{24DC4FB7-D6D2-7A2D-5693-5257B3472930}"/>
              </a:ext>
            </a:extLst>
          </p:cNvPr>
          <p:cNvSpPr txBox="1"/>
          <p:nvPr/>
        </p:nvSpPr>
        <p:spPr>
          <a:xfrm>
            <a:off x="7334402" y="6791249"/>
            <a:ext cx="38130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38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IPO</a:t>
            </a:r>
            <a:endParaRPr lang="en-US" sz="1400" dirty="0"/>
          </a:p>
        </p:txBody>
      </p:sp>
      <p:sp>
        <p:nvSpPr>
          <p:cNvPr id="268" name="Text 65">
            <a:extLst>
              <a:ext uri="{FF2B5EF4-FFF2-40B4-BE49-F238E27FC236}">
                <a16:creationId xmlns:a16="http://schemas.microsoft.com/office/drawing/2014/main" id="{D5C4AD8F-52BE-EE6F-9D8B-27A1FF3EEC49}"/>
              </a:ext>
            </a:extLst>
          </p:cNvPr>
          <p:cNvSpPr txBox="1"/>
          <p:nvPr/>
        </p:nvSpPr>
        <p:spPr>
          <a:xfrm>
            <a:off x="6703466" y="6458407"/>
            <a:ext cx="822046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A85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Traditional</a:t>
            </a:r>
            <a:endParaRPr lang="en-US" sz="1400" dirty="0"/>
          </a:p>
        </p:txBody>
      </p:sp>
      <p:sp>
        <p:nvSpPr>
          <p:cNvPr id="270" name="Text 66">
            <a:extLst>
              <a:ext uri="{FF2B5EF4-FFF2-40B4-BE49-F238E27FC236}">
                <a16:creationId xmlns:a16="http://schemas.microsoft.com/office/drawing/2014/main" id="{762D1888-16E7-9AEE-9D99-71E68F710309}"/>
              </a:ext>
            </a:extLst>
          </p:cNvPr>
          <p:cNvSpPr txBox="1"/>
          <p:nvPr/>
        </p:nvSpPr>
        <p:spPr>
          <a:xfrm>
            <a:off x="7619695" y="6448349"/>
            <a:ext cx="304861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Standard 12-month lock-up</a:t>
            </a:r>
            <a:endParaRPr lang="en-US" sz="1200" dirty="0"/>
          </a:p>
        </p:txBody>
      </p:sp>
      <p:sp>
        <p:nvSpPr>
          <p:cNvPr id="272" name="Text 67">
            <a:extLst>
              <a:ext uri="{FF2B5EF4-FFF2-40B4-BE49-F238E27FC236}">
                <a16:creationId xmlns:a16="http://schemas.microsoft.com/office/drawing/2014/main" id="{6BE97C8F-11B4-EEFF-DB87-E20408BDFDDB}"/>
              </a:ext>
            </a:extLst>
          </p:cNvPr>
          <p:cNvSpPr txBox="1"/>
          <p:nvPr/>
        </p:nvSpPr>
        <p:spPr>
          <a:xfrm>
            <a:off x="10554005" y="6791249"/>
            <a:ext cx="5715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A85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exit</a:t>
            </a:r>
            <a:endParaRPr lang="en-US" sz="1400" dirty="0"/>
          </a:p>
        </p:txBody>
      </p:sp>
      <p:sp>
        <p:nvSpPr>
          <p:cNvPr id="274" name="Text 68">
            <a:extLst>
              <a:ext uri="{FF2B5EF4-FFF2-40B4-BE49-F238E27FC236}">
                <a16:creationId xmlns:a16="http://schemas.microsoft.com/office/drawing/2014/main" id="{64A5EE49-5657-4B25-6718-05B705C865A9}"/>
              </a:ext>
            </a:extLst>
          </p:cNvPr>
          <p:cNvSpPr txBox="1"/>
          <p:nvPr/>
        </p:nvSpPr>
        <p:spPr>
          <a:xfrm>
            <a:off x="6810451" y="7144207"/>
            <a:ext cx="715061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6F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CR17</a:t>
            </a:r>
            <a:endParaRPr lang="en-US" sz="1400" dirty="0"/>
          </a:p>
        </p:txBody>
      </p:sp>
      <p:sp>
        <p:nvSpPr>
          <p:cNvPr id="276" name="Text 69">
            <a:extLst>
              <a:ext uri="{FF2B5EF4-FFF2-40B4-BE49-F238E27FC236}">
                <a16:creationId xmlns:a16="http://schemas.microsoft.com/office/drawing/2014/main" id="{64CEF062-1546-8D13-812C-F45F69D9F3D2}"/>
              </a:ext>
            </a:extLst>
          </p:cNvPr>
          <p:cNvSpPr txBox="1"/>
          <p:nvPr/>
        </p:nvSpPr>
        <p:spPr>
          <a:xfrm>
            <a:off x="7619695" y="7134149"/>
            <a:ext cx="1524305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Blended anchor lock-up</a:t>
            </a:r>
            <a:endParaRPr lang="en-US" sz="1200" dirty="0"/>
          </a:p>
        </p:txBody>
      </p:sp>
      <p:sp>
        <p:nvSpPr>
          <p:cNvPr id="278" name="Text 70">
            <a:extLst>
              <a:ext uri="{FF2B5EF4-FFF2-40B4-BE49-F238E27FC236}">
                <a16:creationId xmlns:a16="http://schemas.microsoft.com/office/drawing/2014/main" id="{16AC97FA-3C59-35E5-D937-FB380367B467}"/>
              </a:ext>
            </a:extLst>
          </p:cNvPr>
          <p:cNvSpPr txBox="1"/>
          <p:nvPr/>
        </p:nvSpPr>
        <p:spPr>
          <a:xfrm>
            <a:off x="8768182" y="7477049"/>
            <a:ext cx="809244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B6F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earlier exit</a:t>
            </a:r>
            <a:endParaRPr lang="en-US" sz="1400" dirty="0"/>
          </a:p>
        </p:txBody>
      </p:sp>
      <p:sp>
        <p:nvSpPr>
          <p:cNvPr id="282" name="Text 72">
            <a:extLst>
              <a:ext uri="{FF2B5EF4-FFF2-40B4-BE49-F238E27FC236}">
                <a16:creationId xmlns:a16="http://schemas.microsoft.com/office/drawing/2014/main" id="{79A6FC8F-9C48-92E6-B2A1-63FB428599E6}"/>
              </a:ext>
            </a:extLst>
          </p:cNvPr>
          <p:cNvSpPr txBox="1"/>
          <p:nvPr/>
        </p:nvSpPr>
        <p:spPr>
          <a:xfrm>
            <a:off x="6810451" y="7756002"/>
            <a:ext cx="13350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6F2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→</a:t>
            </a:r>
            <a:endParaRPr lang="en-US" sz="1000" dirty="0"/>
          </a:p>
        </p:txBody>
      </p:sp>
      <p:sp>
        <p:nvSpPr>
          <p:cNvPr id="284" name="Text 73">
            <a:extLst>
              <a:ext uri="{FF2B5EF4-FFF2-40B4-BE49-F238E27FC236}">
                <a16:creationId xmlns:a16="http://schemas.microsoft.com/office/drawing/2014/main" id="{F03A4C9C-AEBA-3072-3C53-580CE821FFFA}"/>
              </a:ext>
            </a:extLst>
          </p:cNvPr>
          <p:cNvSpPr txBox="1"/>
          <p:nvPr/>
        </p:nvSpPr>
        <p:spPr>
          <a:xfrm>
            <a:off x="7058254" y="7756002"/>
            <a:ext cx="3849624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 benefits:</a:t>
            </a:r>
            <a:r>
              <a:rPr lang="en-US" sz="1400" dirty="0">
                <a:solidFill>
                  <a:srgbClr val="1A2B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anchor / cornerstone demand de-risks the</a:t>
            </a:r>
          </a:p>
          <a:p>
            <a:pPr marL="0" indent="0" algn="l">
              <a:buNone/>
            </a:pPr>
            <a:r>
              <a:rPr lang="en-US" sz="1400" dirty="0">
                <a:solidFill>
                  <a:srgbClr val="1A2B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IPO book.</a:t>
            </a:r>
            <a:endParaRPr lang="en-US" sz="1400" dirty="0"/>
          </a:p>
        </p:txBody>
      </p:sp>
      <p:sp>
        <p:nvSpPr>
          <p:cNvPr id="286" name="Text 74">
            <a:extLst>
              <a:ext uri="{FF2B5EF4-FFF2-40B4-BE49-F238E27FC236}">
                <a16:creationId xmlns:a16="http://schemas.microsoft.com/office/drawing/2014/main" id="{97B044FE-FEE1-8DC4-30EE-1E0FED8B9391}"/>
              </a:ext>
            </a:extLst>
          </p:cNvPr>
          <p:cNvSpPr txBox="1"/>
          <p:nvPr/>
        </p:nvSpPr>
        <p:spPr>
          <a:xfrm>
            <a:off x="6810451" y="8233437"/>
            <a:ext cx="13350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6F2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→</a:t>
            </a:r>
            <a:endParaRPr lang="en-US" sz="1000" dirty="0"/>
          </a:p>
        </p:txBody>
      </p:sp>
      <p:sp>
        <p:nvSpPr>
          <p:cNvPr id="288" name="Text 75">
            <a:extLst>
              <a:ext uri="{FF2B5EF4-FFF2-40B4-BE49-F238E27FC236}">
                <a16:creationId xmlns:a16="http://schemas.microsoft.com/office/drawing/2014/main" id="{57FC60CD-EB90-D654-1586-F4587C99E447}"/>
              </a:ext>
            </a:extLst>
          </p:cNvPr>
          <p:cNvSpPr txBox="1"/>
          <p:nvPr/>
        </p:nvSpPr>
        <p:spPr>
          <a:xfrm>
            <a:off x="7058254" y="8233437"/>
            <a:ext cx="4601261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LP benefits:</a:t>
            </a:r>
            <a:r>
              <a:rPr lang="en-US" sz="1400" dirty="0">
                <a:solidFill>
                  <a:srgbClr val="1A2B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shorter weighted-avg. lock-up, faster capital</a:t>
            </a:r>
          </a:p>
          <a:p>
            <a:pPr marL="0" indent="0" algn="l">
              <a:buNone/>
            </a:pPr>
            <a:r>
              <a:rPr lang="en-US" sz="1400" dirty="0">
                <a:solidFill>
                  <a:srgbClr val="1A2B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turnover.</a:t>
            </a:r>
            <a:endParaRPr lang="en-US" sz="1400" dirty="0"/>
          </a:p>
        </p:txBody>
      </p:sp>
      <p:sp>
        <p:nvSpPr>
          <p:cNvPr id="290" name="Text 76">
            <a:extLst>
              <a:ext uri="{FF2B5EF4-FFF2-40B4-BE49-F238E27FC236}">
                <a16:creationId xmlns:a16="http://schemas.microsoft.com/office/drawing/2014/main" id="{FFC4241A-FCE1-A712-A218-35962CC788A1}"/>
              </a:ext>
            </a:extLst>
          </p:cNvPr>
          <p:cNvSpPr txBox="1"/>
          <p:nvPr/>
        </p:nvSpPr>
        <p:spPr>
          <a:xfrm>
            <a:off x="6810451" y="8796888"/>
            <a:ext cx="4668012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Result:</a:t>
            </a:r>
            <a:r>
              <a:rPr lang="en-US" sz="16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 self-reinforcing loop — patient capital that still delivers accelerated exit optionality.</a:t>
            </a:r>
            <a:endParaRPr lang="en-US" sz="1600" dirty="0"/>
          </a:p>
        </p:txBody>
      </p:sp>
      <p:sp>
        <p:nvSpPr>
          <p:cNvPr id="292" name="Text 77">
            <a:extLst>
              <a:ext uri="{FF2B5EF4-FFF2-40B4-BE49-F238E27FC236}">
                <a16:creationId xmlns:a16="http://schemas.microsoft.com/office/drawing/2014/main" id="{7731924F-70D2-0ECA-3DB6-7689A1C8FED2}"/>
              </a:ext>
            </a:extLst>
          </p:cNvPr>
          <p:cNvSpPr txBox="1"/>
          <p:nvPr/>
        </p:nvSpPr>
        <p:spPr>
          <a:xfrm>
            <a:off x="12210898" y="3429000"/>
            <a:ext cx="5715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kern="0" spc="83" dirty="0">
                <a:solidFill>
                  <a:srgbClr val="8B6F2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03</a:t>
            </a:r>
            <a:endParaRPr lang="en-US" sz="1600" dirty="0"/>
          </a:p>
        </p:txBody>
      </p:sp>
      <p:sp>
        <p:nvSpPr>
          <p:cNvPr id="294" name="Text 78">
            <a:extLst>
              <a:ext uri="{FF2B5EF4-FFF2-40B4-BE49-F238E27FC236}">
                <a16:creationId xmlns:a16="http://schemas.microsoft.com/office/drawing/2014/main" id="{8B066276-0C72-11B9-9B65-C040076F2BB4}"/>
              </a:ext>
            </a:extLst>
          </p:cNvPr>
          <p:cNvSpPr txBox="1"/>
          <p:nvPr/>
        </p:nvSpPr>
        <p:spPr>
          <a:xfrm>
            <a:off x="12801600" y="3467405"/>
            <a:ext cx="40005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98" dirty="0">
                <a:solidFill>
                  <a:srgbClr val="8B6F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Commercialization Flow</a:t>
            </a:r>
            <a:endParaRPr lang="en-US" sz="1600" dirty="0"/>
          </a:p>
        </p:txBody>
      </p:sp>
      <p:sp>
        <p:nvSpPr>
          <p:cNvPr id="296" name="Text 79">
            <a:extLst>
              <a:ext uri="{FF2B5EF4-FFF2-40B4-BE49-F238E27FC236}">
                <a16:creationId xmlns:a16="http://schemas.microsoft.com/office/drawing/2014/main" id="{CC61D66E-54B7-CAE5-F706-AD08FD87DF3D}"/>
              </a:ext>
            </a:extLst>
          </p:cNvPr>
          <p:cNvSpPr txBox="1"/>
          <p:nvPr/>
        </p:nvSpPr>
        <p:spPr>
          <a:xfrm>
            <a:off x="12210898" y="3829507"/>
            <a:ext cx="4668012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kern="0" spc="-21" dirty="0">
                <a:solidFill>
                  <a:srgbClr val="0B1F3A"/>
                </a:solidFill>
                <a:latin typeface="Inter"/>
                <a:ea typeface="Fraunces" pitchFamily="34" charset="-122"/>
                <a:cs typeface="Fraunces" pitchFamily="34" charset="-120"/>
              </a:rPr>
              <a:t>A JV mechanic that closes the loop for overseas commercialization.</a:t>
            </a:r>
            <a:endParaRPr lang="en-US" sz="2400" dirty="0">
              <a:latin typeface="Inter"/>
            </a:endParaRPr>
          </a:p>
        </p:txBody>
      </p:sp>
      <p:sp>
        <p:nvSpPr>
          <p:cNvPr id="298" name="Text 80">
            <a:extLst>
              <a:ext uri="{FF2B5EF4-FFF2-40B4-BE49-F238E27FC236}">
                <a16:creationId xmlns:a16="http://schemas.microsoft.com/office/drawing/2014/main" id="{21E12D15-E1B0-9084-C2A6-758846D4EFC7}"/>
              </a:ext>
            </a:extLst>
          </p:cNvPr>
          <p:cNvSpPr txBox="1"/>
          <p:nvPr/>
        </p:nvSpPr>
        <p:spPr>
          <a:xfrm>
            <a:off x="12439498" y="4953305"/>
            <a:ext cx="209580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165" dirty="0">
                <a:solidFill>
                  <a:srgbClr val="C9A9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CR17 provides</a:t>
            </a:r>
            <a:endParaRPr lang="en-US" sz="1400" dirty="0"/>
          </a:p>
        </p:txBody>
      </p:sp>
      <p:sp>
        <p:nvSpPr>
          <p:cNvPr id="300" name="Text 81">
            <a:extLst>
              <a:ext uri="{FF2B5EF4-FFF2-40B4-BE49-F238E27FC236}">
                <a16:creationId xmlns:a16="http://schemas.microsoft.com/office/drawing/2014/main" id="{D01EE324-77A8-B2E4-8BFD-44812D1CA31D}"/>
              </a:ext>
            </a:extLst>
          </p:cNvPr>
          <p:cNvSpPr txBox="1"/>
          <p:nvPr/>
        </p:nvSpPr>
        <p:spPr>
          <a:xfrm>
            <a:off x="12439498" y="5124298"/>
            <a:ext cx="342900" cy="6199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200" kern="0" spc="-42" dirty="0">
                <a:solidFill>
                  <a:srgbClr val="C9A960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$</a:t>
            </a:r>
            <a:endParaRPr lang="en-US" sz="4200" dirty="0"/>
          </a:p>
        </p:txBody>
      </p:sp>
      <p:sp>
        <p:nvSpPr>
          <p:cNvPr id="302" name="Text 82">
            <a:extLst>
              <a:ext uri="{FF2B5EF4-FFF2-40B4-BE49-F238E27FC236}">
                <a16:creationId xmlns:a16="http://schemas.microsoft.com/office/drawing/2014/main" id="{C28849F1-F378-2A9A-C436-1D40101D73ED}"/>
              </a:ext>
            </a:extLst>
          </p:cNvPr>
          <p:cNvSpPr txBox="1"/>
          <p:nvPr/>
        </p:nvSpPr>
        <p:spPr>
          <a:xfrm>
            <a:off x="12817144" y="5363197"/>
            <a:ext cx="15120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FBFAF7"/>
                </a:solidFill>
                <a:latin typeface="Inter"/>
                <a:ea typeface="Inter" pitchFamily="34" charset="-122"/>
              </a:rPr>
              <a:t>Co-investments, networks &amp; talents</a:t>
            </a:r>
            <a:endParaRPr lang="en-US" sz="1400" dirty="0">
              <a:latin typeface="Inter"/>
            </a:endParaRPr>
          </a:p>
        </p:txBody>
      </p:sp>
      <p:sp>
        <p:nvSpPr>
          <p:cNvPr id="304" name="Text 83">
            <a:extLst>
              <a:ext uri="{FF2B5EF4-FFF2-40B4-BE49-F238E27FC236}">
                <a16:creationId xmlns:a16="http://schemas.microsoft.com/office/drawing/2014/main" id="{FE38E574-EFBB-7D3E-90BD-FF1DD43ABE39}"/>
              </a:ext>
            </a:extLst>
          </p:cNvPr>
          <p:cNvSpPr txBox="1"/>
          <p:nvPr/>
        </p:nvSpPr>
        <p:spPr>
          <a:xfrm>
            <a:off x="14763902" y="4953305"/>
            <a:ext cx="209580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165" dirty="0">
                <a:solidFill>
                  <a:srgbClr val="C9A9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Unlocking</a:t>
            </a:r>
            <a:endParaRPr lang="en-US" sz="1400" dirty="0"/>
          </a:p>
        </p:txBody>
      </p:sp>
      <p:sp>
        <p:nvSpPr>
          <p:cNvPr id="306" name="Text 84">
            <a:extLst>
              <a:ext uri="{FF2B5EF4-FFF2-40B4-BE49-F238E27FC236}">
                <a16:creationId xmlns:a16="http://schemas.microsoft.com/office/drawing/2014/main" id="{9E55D0DA-5B3F-AB2F-94A1-2D994F3E18C4}"/>
              </a:ext>
            </a:extLst>
          </p:cNvPr>
          <p:cNvSpPr txBox="1"/>
          <p:nvPr/>
        </p:nvSpPr>
        <p:spPr>
          <a:xfrm>
            <a:off x="14763902" y="5124298"/>
            <a:ext cx="345643" cy="6199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00" kern="0" spc="-42" dirty="0">
                <a:solidFill>
                  <a:srgbClr val="C9A960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Multiple</a:t>
            </a:r>
          </a:p>
          <a:p>
            <a:pPr marL="0" indent="0" algn="l">
              <a:buNone/>
            </a:pPr>
            <a:r>
              <a:rPr lang="en-US" sz="2000" kern="0" spc="-42" dirty="0">
                <a:solidFill>
                  <a:schemeClr val="bg1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western </a:t>
            </a:r>
            <a:r>
              <a:rPr lang="en-US" sz="2000" kern="0" spc="-42" dirty="0">
                <a:solidFill>
                  <a:schemeClr val="bg1"/>
                </a:solidFill>
                <a:latin typeface="Fraunces" pitchFamily="34" charset="0"/>
                <a:ea typeface="Fraunces" pitchFamily="34" charset="-122"/>
              </a:rPr>
              <a:t>markets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310" name="Text 86">
            <a:extLst>
              <a:ext uri="{FF2B5EF4-FFF2-40B4-BE49-F238E27FC236}">
                <a16:creationId xmlns:a16="http://schemas.microsoft.com/office/drawing/2014/main" id="{22A6BBA6-A53B-C155-5242-8DC2401060BF}"/>
              </a:ext>
            </a:extLst>
          </p:cNvPr>
          <p:cNvSpPr txBox="1"/>
          <p:nvPr/>
        </p:nvSpPr>
        <p:spPr>
          <a:xfrm>
            <a:off x="12210898" y="6096305"/>
            <a:ext cx="4668012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165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commercialization loop</a:t>
            </a:r>
            <a:endParaRPr lang="en-US" sz="1400" dirty="0"/>
          </a:p>
        </p:txBody>
      </p:sp>
      <p:sp>
        <p:nvSpPr>
          <p:cNvPr id="312" name="Text 87">
            <a:extLst>
              <a:ext uri="{FF2B5EF4-FFF2-40B4-BE49-F238E27FC236}">
                <a16:creationId xmlns:a16="http://schemas.microsoft.com/office/drawing/2014/main" id="{319E1284-14FE-E179-03BE-0924343B3620}"/>
              </a:ext>
            </a:extLst>
          </p:cNvPr>
          <p:cNvSpPr txBox="1"/>
          <p:nvPr/>
        </p:nvSpPr>
        <p:spPr>
          <a:xfrm>
            <a:off x="12210898" y="6590995"/>
            <a:ext cx="1239012" cy="105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95" dirty="0">
                <a:solidFill>
                  <a:srgbClr val="8B6F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Origin</a:t>
            </a:r>
            <a:endParaRPr lang="en-US" sz="1400" dirty="0"/>
          </a:p>
        </p:txBody>
      </p:sp>
      <p:sp>
        <p:nvSpPr>
          <p:cNvPr id="314" name="Text 88">
            <a:extLst>
              <a:ext uri="{FF2B5EF4-FFF2-40B4-BE49-F238E27FC236}">
                <a16:creationId xmlns:a16="http://schemas.microsoft.com/office/drawing/2014/main" id="{9424C244-F13B-1C89-DA13-B0A14F33533F}"/>
              </a:ext>
            </a:extLst>
          </p:cNvPr>
          <p:cNvSpPr txBox="1"/>
          <p:nvPr/>
        </p:nvSpPr>
        <p:spPr>
          <a:xfrm>
            <a:off x="12210898" y="6752844"/>
            <a:ext cx="1239012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kern="0" spc="-12" dirty="0">
                <a:solidFill>
                  <a:srgbClr val="0B1F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China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kern="0" spc="-12" dirty="0">
                <a:solidFill>
                  <a:srgbClr val="0B1F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Target Co.</a:t>
            </a:r>
            <a:endParaRPr lang="en-US" sz="1400" dirty="0"/>
          </a:p>
        </p:txBody>
      </p:sp>
      <p:sp>
        <p:nvSpPr>
          <p:cNvPr id="316" name="Text 89">
            <a:extLst>
              <a:ext uri="{FF2B5EF4-FFF2-40B4-BE49-F238E27FC236}">
                <a16:creationId xmlns:a16="http://schemas.microsoft.com/office/drawing/2014/main" id="{9AC07B31-2C41-BC77-FD4D-AC3F12962BCC}"/>
              </a:ext>
            </a:extLst>
          </p:cNvPr>
          <p:cNvSpPr txBox="1"/>
          <p:nvPr/>
        </p:nvSpPr>
        <p:spPr>
          <a:xfrm>
            <a:off x="13849502" y="6515100"/>
            <a:ext cx="1714500" cy="105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95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CR17 Co-Invest</a:t>
            </a:r>
            <a:endParaRPr lang="en-US" sz="1400" dirty="0"/>
          </a:p>
        </p:txBody>
      </p:sp>
      <p:sp>
        <p:nvSpPr>
          <p:cNvPr id="318" name="Text 90">
            <a:extLst>
              <a:ext uri="{FF2B5EF4-FFF2-40B4-BE49-F238E27FC236}">
                <a16:creationId xmlns:a16="http://schemas.microsoft.com/office/drawing/2014/main" id="{0B60FBF1-229A-9031-2AA9-77DD9463B76C}"/>
              </a:ext>
            </a:extLst>
          </p:cNvPr>
          <p:cNvSpPr txBox="1"/>
          <p:nvPr/>
        </p:nvSpPr>
        <p:spPr>
          <a:xfrm>
            <a:off x="13849502" y="6696151"/>
            <a:ext cx="17145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0" kern="0" spc="-15" dirty="0">
                <a:solidFill>
                  <a:srgbClr val="0B1F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Offshore JV</a:t>
            </a:r>
            <a:endParaRPr lang="en-US" sz="1400" dirty="0"/>
          </a:p>
        </p:txBody>
      </p:sp>
      <p:sp>
        <p:nvSpPr>
          <p:cNvPr id="320" name="Text 91">
            <a:extLst>
              <a:ext uri="{FF2B5EF4-FFF2-40B4-BE49-F238E27FC236}">
                <a16:creationId xmlns:a16="http://schemas.microsoft.com/office/drawing/2014/main" id="{C706AA6C-BBA1-569A-0ED5-693FE589F60A}"/>
              </a:ext>
            </a:extLst>
          </p:cNvPr>
          <p:cNvSpPr txBox="1"/>
          <p:nvPr/>
        </p:nvSpPr>
        <p:spPr>
          <a:xfrm>
            <a:off x="13849502" y="6963156"/>
            <a:ext cx="17145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B1F3A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CR17 + Target Co.</a:t>
            </a:r>
            <a:endParaRPr lang="en-US" sz="1400" dirty="0"/>
          </a:p>
        </p:txBody>
      </p:sp>
      <p:sp>
        <p:nvSpPr>
          <p:cNvPr id="322" name="Text 92">
            <a:extLst>
              <a:ext uri="{FF2B5EF4-FFF2-40B4-BE49-F238E27FC236}">
                <a16:creationId xmlns:a16="http://schemas.microsoft.com/office/drawing/2014/main" id="{9DF049A9-7C77-C0E9-C9A3-2C86B3A4562F}"/>
              </a:ext>
            </a:extLst>
          </p:cNvPr>
          <p:cNvSpPr txBox="1"/>
          <p:nvPr/>
        </p:nvSpPr>
        <p:spPr>
          <a:xfrm>
            <a:off x="15963595" y="6590995"/>
            <a:ext cx="914400" cy="105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95" dirty="0">
                <a:solidFill>
                  <a:srgbClr val="8B6F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Destination</a:t>
            </a:r>
            <a:endParaRPr lang="en-US" sz="1400" dirty="0"/>
          </a:p>
        </p:txBody>
      </p:sp>
      <p:sp>
        <p:nvSpPr>
          <p:cNvPr id="324" name="Text 93">
            <a:extLst>
              <a:ext uri="{FF2B5EF4-FFF2-40B4-BE49-F238E27FC236}">
                <a16:creationId xmlns:a16="http://schemas.microsoft.com/office/drawing/2014/main" id="{66D9F2E0-8F71-143E-BBF9-F91864BF2F37}"/>
              </a:ext>
            </a:extLst>
          </p:cNvPr>
          <p:cNvSpPr txBox="1"/>
          <p:nvPr/>
        </p:nvSpPr>
        <p:spPr>
          <a:xfrm>
            <a:off x="15963595" y="6752844"/>
            <a:ext cx="91440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kern="0" spc="-11" dirty="0">
                <a:solidFill>
                  <a:srgbClr val="0B1F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NA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kern="0" spc="-11" dirty="0">
                <a:solidFill>
                  <a:srgbClr val="0B1F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&amp; EU</a:t>
            </a:r>
            <a:endParaRPr lang="en-US" sz="1400" dirty="0"/>
          </a:p>
        </p:txBody>
      </p:sp>
      <p:sp>
        <p:nvSpPr>
          <p:cNvPr id="326" name="Text 94">
            <a:extLst>
              <a:ext uri="{FF2B5EF4-FFF2-40B4-BE49-F238E27FC236}">
                <a16:creationId xmlns:a16="http://schemas.microsoft.com/office/drawing/2014/main" id="{1575DF29-6EFA-837B-0F20-1A8F194727C2}"/>
              </a:ext>
            </a:extLst>
          </p:cNvPr>
          <p:cNvSpPr txBox="1"/>
          <p:nvPr/>
        </p:nvSpPr>
        <p:spPr>
          <a:xfrm>
            <a:off x="12210898" y="7619695"/>
            <a:ext cx="4668012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165" dirty="0">
                <a:solidFill>
                  <a:srgbClr val="8B6F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Powered by</a:t>
            </a:r>
            <a:endParaRPr lang="en-US" sz="1600" dirty="0"/>
          </a:p>
        </p:txBody>
      </p:sp>
      <p:sp>
        <p:nvSpPr>
          <p:cNvPr id="328" name="Text 95">
            <a:extLst>
              <a:ext uri="{FF2B5EF4-FFF2-40B4-BE49-F238E27FC236}">
                <a16:creationId xmlns:a16="http://schemas.microsoft.com/office/drawing/2014/main" id="{655CBC98-E420-8E3C-382A-FD9CD83CEBA6}"/>
              </a:ext>
            </a:extLst>
          </p:cNvPr>
          <p:cNvSpPr txBox="1"/>
          <p:nvPr/>
        </p:nvSpPr>
        <p:spPr>
          <a:xfrm>
            <a:off x="12210898" y="7867498"/>
            <a:ext cx="4668012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0" kern="0" spc="-12" dirty="0">
                <a:solidFill>
                  <a:srgbClr val="0B1F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Chinney Group · Wong Family · Cha Family</a:t>
            </a:r>
            <a:endParaRPr lang="en-US" sz="1400" dirty="0"/>
          </a:p>
        </p:txBody>
      </p:sp>
      <p:sp>
        <p:nvSpPr>
          <p:cNvPr id="330" name="Text 96">
            <a:extLst>
              <a:ext uri="{FF2B5EF4-FFF2-40B4-BE49-F238E27FC236}">
                <a16:creationId xmlns:a16="http://schemas.microsoft.com/office/drawing/2014/main" id="{FCAA8C9B-BCEA-2EBD-498A-341AA3EAA09F}"/>
              </a:ext>
            </a:extLst>
          </p:cNvPr>
          <p:cNvSpPr txBox="1"/>
          <p:nvPr/>
        </p:nvSpPr>
        <p:spPr>
          <a:xfrm>
            <a:off x="12210898" y="8118958"/>
            <a:ext cx="4668012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Decades-old sales networks &amp; client relationships</a:t>
            </a:r>
            <a:endParaRPr lang="en-US" sz="1400" dirty="0"/>
          </a:p>
        </p:txBody>
      </p:sp>
      <p:sp>
        <p:nvSpPr>
          <p:cNvPr id="332" name="Text 97">
            <a:extLst>
              <a:ext uri="{FF2B5EF4-FFF2-40B4-BE49-F238E27FC236}">
                <a16:creationId xmlns:a16="http://schemas.microsoft.com/office/drawing/2014/main" id="{09CF8131-1580-DE11-10E5-48FE5B94C884}"/>
              </a:ext>
            </a:extLst>
          </p:cNvPr>
          <p:cNvSpPr txBox="1"/>
          <p:nvPr/>
        </p:nvSpPr>
        <p:spPr>
          <a:xfrm>
            <a:off x="12210898" y="8796888"/>
            <a:ext cx="4668012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Result:</a:t>
            </a:r>
            <a:r>
              <a:rPr lang="en-US" sz="16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Funding and de-risked international expansion for targets, cornerstone economics for CR17 — a true win-win.</a:t>
            </a:r>
            <a:endParaRPr lang="en-US" sz="1600" dirty="0"/>
          </a:p>
        </p:txBody>
      </p:sp>
      <p:sp>
        <p:nvSpPr>
          <p:cNvPr id="334" name="Text 25">
            <a:extLst>
              <a:ext uri="{FF2B5EF4-FFF2-40B4-BE49-F238E27FC236}">
                <a16:creationId xmlns:a16="http://schemas.microsoft.com/office/drawing/2014/main" id="{5F20FBC8-F39C-7BED-D363-69DA6F15007D}"/>
              </a:ext>
            </a:extLst>
          </p:cNvPr>
          <p:cNvSpPr txBox="1"/>
          <p:nvPr/>
        </p:nvSpPr>
        <p:spPr>
          <a:xfrm>
            <a:off x="1143000" y="2286000"/>
            <a:ext cx="14287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Cleaner economics · faster liquidity · active commercialization — the three ways CR17 outperforms the market standard.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521</Words>
  <Application>Microsoft Office PowerPoint</Application>
  <PresentationFormat>Custom</PresentationFormat>
  <Paragraphs>116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Fraunces</vt:lpstr>
      <vt:lpstr>Inter</vt:lpstr>
      <vt:lpstr>Arial</vt:lpstr>
      <vt:lpstr>Office Theme</vt:lpstr>
      <vt:lpstr>PowerPoint Presentation</vt:lpstr>
      <vt:lpstr>PowerPoint Presentation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zeng kevin</cp:lastModifiedBy>
  <cp:revision>13</cp:revision>
  <dcterms:created xsi:type="dcterms:W3CDTF">2026-07-10T06:38:13Z</dcterms:created>
  <dcterms:modified xsi:type="dcterms:W3CDTF">2026-07-10T07:48:58Z</dcterms:modified>
</cp:coreProperties>
</file>